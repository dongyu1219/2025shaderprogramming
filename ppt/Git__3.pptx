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69" r:id="rId3"/>
    <p:sldId id="313" r:id="rId4"/>
    <p:sldId id="275" r:id="rId5"/>
    <p:sldId id="314" r:id="rId6"/>
    <p:sldId id="315" r:id="rId7"/>
    <p:sldId id="318" r:id="rId8"/>
    <p:sldId id="316" r:id="rId9"/>
    <p:sldId id="317" r:id="rId10"/>
    <p:sldId id="328" r:id="rId11"/>
    <p:sldId id="325" r:id="rId12"/>
    <p:sldId id="326" r:id="rId13"/>
    <p:sldId id="329" r:id="rId14"/>
    <p:sldId id="330" r:id="rId15"/>
    <p:sldId id="332" r:id="rId16"/>
    <p:sldId id="333" r:id="rId17"/>
    <p:sldId id="334" r:id="rId18"/>
    <p:sldId id="338" r:id="rId19"/>
    <p:sldId id="339" r:id="rId20"/>
    <p:sldId id="341" r:id="rId21"/>
    <p:sldId id="342" r:id="rId22"/>
    <p:sldId id="344" r:id="rId23"/>
    <p:sldId id="345" r:id="rId24"/>
    <p:sldId id="346" r:id="rId25"/>
    <p:sldId id="347" r:id="rId26"/>
    <p:sldId id="348" r:id="rId27"/>
    <p:sldId id="343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73" r:id="rId49"/>
    <p:sldId id="374" r:id="rId50"/>
    <p:sldId id="369" r:id="rId51"/>
    <p:sldId id="370" r:id="rId52"/>
    <p:sldId id="371" r:id="rId53"/>
    <p:sldId id="372" r:id="rId54"/>
    <p:sldId id="375" r:id="rId55"/>
    <p:sldId id="376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86" r:id="rId65"/>
    <p:sldId id="387" r:id="rId66"/>
    <p:sldId id="388" r:id="rId67"/>
    <p:sldId id="389" r:id="rId68"/>
    <p:sldId id="390" r:id="rId69"/>
    <p:sldId id="391" r:id="rId70"/>
    <p:sldId id="392" r:id="rId71"/>
    <p:sldId id="393" r:id="rId72"/>
    <p:sldId id="394" r:id="rId73"/>
    <p:sldId id="395" r:id="rId74"/>
    <p:sldId id="319" r:id="rId75"/>
    <p:sldId id="320" r:id="rId76"/>
    <p:sldId id="321" r:id="rId77"/>
    <p:sldId id="322" r:id="rId78"/>
    <p:sldId id="323" r:id="rId79"/>
    <p:sldId id="396" r:id="rId80"/>
    <p:sldId id="397" r:id="rId81"/>
    <p:sldId id="398" r:id="rId82"/>
    <p:sldId id="399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DBD78-73C5-4371-9795-3675F145231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F4848-FDB0-4B6E-B0E6-1BC54B53B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DDF5F-2680-4064-AC15-767EFA89173C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060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DDF5F-2680-4064-AC15-767EFA89173C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26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16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13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8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9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81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5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5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36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7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97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4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C7343-E182-4B90-880C-3D28E6B6646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12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ko/v2/Git-%EB%8F%84%EA%B5%AC-%ED%9E%88%EC%8A%A4%ED%86%A0%EB%A6%AC-%EB%8B%A8%EC%9E%A5%ED%95%98%EA%B8%B0" TargetMode="External"/><Relationship Id="rId2" Type="http://schemas.openxmlformats.org/officeDocument/2006/relationships/hyperlink" Target="https://git-scm.com/book/ko/v2/Git-%EB%B8%8C%EB%9E%9C%EC%B9%98-Rebase-%ED%95%98%EA%B8%B0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ko/v2/%EB%B6%84%EC%82%B0-%ED%99%98%EA%B2%BD%EC%97%90%EC%84%9C%EC%9D%98-Git-%ED%94%84%EB%A1%9C%EC%A0%9D%ED%8A%B8%EC%97%90-%EA%B8%B0%EC%97%AC%ED%95%98%EA%B8%B0" TargetMode="External"/><Relationship Id="rId2" Type="http://schemas.openxmlformats.org/officeDocument/2006/relationships/hyperlink" Target="https://git-scm.com/book/ko/v2/%EB%B6%84%EC%82%B0-%ED%99%98%EA%B2%BD%EC%97%90%EC%84%9C%EC%9D%98-Git-%EB%B6%84%EC%82%B0-%ED%99%98%EA%B2%BD%EC%97%90%EC%84%9C%EC%9D%98-%EC%9B%8C%ED%81%AC%ED%94%8C%EB%A1%9C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Git </a:t>
            </a:r>
            <a:br>
              <a:rPr lang="en-US" altLang="ko-KR" dirty="0"/>
            </a:br>
            <a:r>
              <a:rPr lang="en-US" altLang="ko-KR" dirty="0"/>
              <a:t>Version Control System</a:t>
            </a:r>
            <a:br>
              <a:rPr lang="en-US" altLang="ko-KR" dirty="0"/>
            </a:b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한국공학대학교</a:t>
            </a:r>
            <a:endParaRPr lang="en-US" altLang="ko-KR" dirty="0"/>
          </a:p>
          <a:p>
            <a:r>
              <a:rPr lang="ko-KR" altLang="en-US" dirty="0"/>
              <a:t>게임공학과</a:t>
            </a:r>
            <a:endParaRPr lang="en-US" altLang="ko-KR" dirty="0"/>
          </a:p>
          <a:p>
            <a:r>
              <a:rPr lang="ko-KR" altLang="en-US" dirty="0"/>
              <a:t>이택희</a:t>
            </a:r>
          </a:p>
        </p:txBody>
      </p:sp>
    </p:spTree>
    <p:extLst>
      <p:ext uri="{BB962C8B-B14F-4D97-AF65-F5344CB8AC3E}">
        <p14:creationId xmlns:p14="http://schemas.microsoft.com/office/powerpoint/2010/main" val="12349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 err="1"/>
              <a:t>브랜치</a:t>
            </a:r>
            <a:r>
              <a:rPr lang="ko-KR" altLang="en-US" dirty="0"/>
              <a:t> 병합</a:t>
            </a:r>
            <a:endParaRPr lang="en-US" altLang="ko-KR" dirty="0"/>
          </a:p>
          <a:p>
            <a:r>
              <a:rPr lang="ko-KR" altLang="en-US" dirty="0" err="1"/>
              <a:t>브랜치</a:t>
            </a:r>
            <a:r>
              <a:rPr lang="ko-KR" altLang="en-US" dirty="0"/>
              <a:t> 삭제</a:t>
            </a:r>
            <a:endParaRPr lang="en-US" altLang="ko-KR" dirty="0"/>
          </a:p>
          <a:p>
            <a:r>
              <a:rPr lang="ko-KR" altLang="en-US" dirty="0" err="1"/>
              <a:t>브랜치</a:t>
            </a:r>
            <a:r>
              <a:rPr lang="ko-KR" altLang="en-US" dirty="0"/>
              <a:t> 관리</a:t>
            </a:r>
            <a:endParaRPr lang="en-US" altLang="ko-KR" dirty="0"/>
          </a:p>
          <a:p>
            <a:r>
              <a:rPr lang="ko-KR" altLang="en-US" dirty="0"/>
              <a:t>특정 버전으로 가기</a:t>
            </a:r>
            <a:endParaRPr lang="en-US" altLang="ko-KR" dirty="0"/>
          </a:p>
          <a:p>
            <a:r>
              <a:rPr lang="en-US" altLang="ko-KR" dirty="0"/>
              <a:t>Git checkout</a:t>
            </a:r>
          </a:p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  <a:p>
            <a:r>
              <a:rPr lang="en-US" altLang="ko-KR" dirty="0"/>
              <a:t>Git stash</a:t>
            </a:r>
          </a:p>
          <a:p>
            <a:r>
              <a:rPr lang="en-US" altLang="ko-KR" dirty="0"/>
              <a:t>Git clean</a:t>
            </a:r>
          </a:p>
          <a:p>
            <a:r>
              <a:rPr lang="en-US" altLang="ko-KR" dirty="0"/>
              <a:t>Git remote repository</a:t>
            </a:r>
          </a:p>
          <a:p>
            <a:r>
              <a:rPr lang="en-US" altLang="ko-KR" dirty="0"/>
              <a:t>Remote branch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095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병합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1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병합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그래프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810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38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branch –d [</a:t>
            </a:r>
            <a:r>
              <a:rPr lang="en-US" altLang="ko-KR" dirty="0" err="1"/>
              <a:t>branchName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강제삭제 </a:t>
            </a:r>
            <a:r>
              <a:rPr lang="en-US" altLang="ko-KR" dirty="0"/>
              <a:t>: git branch –D [</a:t>
            </a:r>
            <a:r>
              <a:rPr lang="en-US" altLang="ko-KR" dirty="0" err="1"/>
              <a:t>branchName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652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그래프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012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EAD768-718D-47B5-B427-096FCE1A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관리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9EA319-7D4F-4374-B947-21A0E9D1D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645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D3EB03-3FEF-43F6-8906-51C770C4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관리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B1ECCD-2123-42E8-9D14-9722CA074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branch : </a:t>
            </a:r>
            <a:r>
              <a:rPr lang="ko-KR" altLang="en-US" dirty="0"/>
              <a:t>브랜치</a:t>
            </a:r>
            <a:r>
              <a:rPr lang="en-US" altLang="ko-KR" dirty="0"/>
              <a:t> </a:t>
            </a:r>
            <a:r>
              <a:rPr lang="ko-KR" altLang="en-US" dirty="0"/>
              <a:t>목록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branch –v : </a:t>
            </a:r>
            <a:r>
              <a:rPr lang="ko-KR" altLang="en-US" dirty="0"/>
              <a:t>마지막 커밋 메시지와 함께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</a:t>
            </a:r>
            <a:r>
              <a:rPr lang="en-US" altLang="ko-KR"/>
              <a:t>branch --merged </a:t>
            </a:r>
            <a:r>
              <a:rPr lang="en-US" altLang="ko-KR" dirty="0"/>
              <a:t>: </a:t>
            </a:r>
            <a:r>
              <a:rPr lang="ko-KR" altLang="en-US" dirty="0"/>
              <a:t>병합 된 브랜치 만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branch --no-merged : </a:t>
            </a:r>
            <a:r>
              <a:rPr lang="ko-KR" altLang="en-US" dirty="0"/>
              <a:t>병합 안 된 브랜치 만 출력</a:t>
            </a:r>
          </a:p>
        </p:txBody>
      </p:sp>
    </p:spTree>
    <p:extLst>
      <p:ext uri="{BB962C8B-B14F-4D97-AF65-F5344CB8AC3E}">
        <p14:creationId xmlns:p14="http://schemas.microsoft.com/office/powerpoint/2010/main" val="2939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159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F67CEF5-3903-4069-B88C-E6F8CA5C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DF069B-3A81-4E66-8E16-30D2AB258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reset --[option] [</a:t>
            </a:r>
            <a:r>
              <a:rPr lang="en-US" altLang="ko-KR" dirty="0" err="1"/>
              <a:t>commitID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Option</a:t>
            </a:r>
          </a:p>
          <a:p>
            <a:pPr lvl="2"/>
            <a:r>
              <a:rPr lang="en-US" altLang="ko-KR" dirty="0"/>
              <a:t>soft : working</a:t>
            </a:r>
            <a:r>
              <a:rPr lang="ko-KR" altLang="en-US" dirty="0"/>
              <a:t> </a:t>
            </a:r>
            <a:r>
              <a:rPr lang="en-US" altLang="ko-KR" dirty="0"/>
              <a:t>directory </a:t>
            </a:r>
            <a:r>
              <a:rPr lang="ko-KR" altLang="en-US" dirty="0"/>
              <a:t>보존</a:t>
            </a:r>
            <a:r>
              <a:rPr lang="en-US" altLang="ko-KR" dirty="0"/>
              <a:t>, staging</a:t>
            </a:r>
            <a:r>
              <a:rPr lang="ko-KR" altLang="en-US" dirty="0"/>
              <a:t> </a:t>
            </a:r>
            <a:r>
              <a:rPr lang="en-US" altLang="ko-KR" dirty="0"/>
              <a:t>area</a:t>
            </a:r>
            <a:r>
              <a:rPr lang="ko-KR" altLang="en-US" dirty="0"/>
              <a:t> 보존</a:t>
            </a:r>
            <a:endParaRPr lang="en-US" altLang="ko-KR" dirty="0"/>
          </a:p>
          <a:p>
            <a:pPr lvl="2"/>
            <a:r>
              <a:rPr lang="en-US" altLang="ko-KR" dirty="0"/>
              <a:t>mixed : working directory </a:t>
            </a:r>
            <a:r>
              <a:rPr lang="ko-KR" altLang="en-US" dirty="0"/>
              <a:t>보존</a:t>
            </a:r>
            <a:r>
              <a:rPr lang="en-US" altLang="ko-KR" dirty="0"/>
              <a:t>, staging area </a:t>
            </a:r>
            <a:r>
              <a:rPr lang="ko-KR" altLang="en-US" dirty="0"/>
              <a:t>비움</a:t>
            </a:r>
            <a:endParaRPr lang="en-US" altLang="ko-KR" dirty="0"/>
          </a:p>
          <a:p>
            <a:pPr lvl="2"/>
            <a:r>
              <a:rPr lang="en-US" altLang="ko-KR" dirty="0"/>
              <a:t>hard : working directory </a:t>
            </a:r>
            <a:r>
              <a:rPr lang="ko-KR" altLang="en-US" dirty="0"/>
              <a:t>변화</a:t>
            </a:r>
            <a:r>
              <a:rPr lang="en-US" altLang="ko-KR" dirty="0"/>
              <a:t>, staging area </a:t>
            </a:r>
            <a:r>
              <a:rPr lang="ko-KR" altLang="en-US" dirty="0"/>
              <a:t>비움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Ex : git reset --soft 9e5e6a4</a:t>
            </a:r>
          </a:p>
          <a:p>
            <a:pPr lvl="1"/>
            <a:r>
              <a:rPr lang="en-US" altLang="ko-KR" dirty="0"/>
              <a:t>Ex : git reset --mixed 9e5e6a4</a:t>
            </a:r>
          </a:p>
          <a:p>
            <a:pPr lvl="1"/>
            <a:r>
              <a:rPr lang="en-US" altLang="ko-KR" dirty="0"/>
              <a:t>Ex : git reset --hard 9e5e6a4</a:t>
            </a: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497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6848-9392-4C50-B0AE-68678989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BFD1B-6317-4E51-95C5-BA1FEF8BA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응용 </a:t>
            </a:r>
            <a:r>
              <a:rPr lang="en-US" altLang="ko-KR" dirty="0"/>
              <a:t>: Squash, </a:t>
            </a:r>
            <a:r>
              <a:rPr lang="ko-KR" altLang="en-US" dirty="0" err="1"/>
              <a:t>커밋</a:t>
            </a:r>
            <a:r>
              <a:rPr lang="ko-KR" altLang="en-US" dirty="0"/>
              <a:t> </a:t>
            </a:r>
            <a:r>
              <a:rPr lang="ko-KR" altLang="en-US" dirty="0" err="1"/>
              <a:t>뭉게기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commit </a:t>
            </a:r>
            <a:r>
              <a:rPr lang="ko-KR" altLang="en-US" dirty="0"/>
              <a:t>을 하나로 합치고 싶을 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git reset --soft </a:t>
            </a:r>
            <a:r>
              <a:rPr lang="en-US" altLang="ko-KR" dirty="0" err="1"/>
              <a:t>commitID</a:t>
            </a:r>
            <a:endParaRPr lang="en-US" altLang="ko-KR" dirty="0"/>
          </a:p>
          <a:p>
            <a:pPr lvl="2"/>
            <a:r>
              <a:rPr lang="en-US" altLang="ko-KR" dirty="0"/>
              <a:t>git commit</a:t>
            </a:r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무슨 일이 일어나는지 그래프를 그려보자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32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Reset 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HEAD</a:t>
            </a:r>
            <a:r>
              <a:rPr lang="ko-KR" altLang="en-US" dirty="0"/>
              <a:t> 를 특정 </a:t>
            </a:r>
            <a:r>
              <a:rPr lang="en-US" altLang="ko-KR" dirty="0"/>
              <a:t>commit ID </a:t>
            </a:r>
            <a:r>
              <a:rPr lang="ko-KR" altLang="en-US" dirty="0"/>
              <a:t>로 옮기는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Revert 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</a:t>
            </a:r>
            <a:r>
              <a:rPr lang="en-US" altLang="ko-KR" dirty="0"/>
              <a:t> commit </a:t>
            </a:r>
            <a:r>
              <a:rPr lang="ko-KR" altLang="en-US" dirty="0"/>
              <a:t>을 취소하는 </a:t>
            </a:r>
            <a:r>
              <a:rPr lang="en-US" altLang="ko-KR" dirty="0"/>
              <a:t>commit ID</a:t>
            </a:r>
            <a:r>
              <a:rPr lang="ko-KR" altLang="en-US" dirty="0"/>
              <a:t>를 만들고 </a:t>
            </a:r>
            <a:r>
              <a:rPr lang="en-US" altLang="ko-KR" dirty="0"/>
              <a:t>HEAD</a:t>
            </a:r>
            <a:r>
              <a:rPr lang="ko-KR" altLang="en-US" dirty="0"/>
              <a:t>를 해당 위치로 옮기는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Checkout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Branch </a:t>
            </a:r>
            <a:r>
              <a:rPr lang="ko-KR" altLang="en-US" dirty="0"/>
              <a:t>의 마지막 </a:t>
            </a:r>
            <a:r>
              <a:rPr lang="en-US" altLang="ko-KR" dirty="0"/>
              <a:t>commit ID </a:t>
            </a:r>
            <a:r>
              <a:rPr lang="ko-KR" altLang="en-US" dirty="0"/>
              <a:t>로 </a:t>
            </a:r>
            <a:r>
              <a:rPr lang="en-US" altLang="ko-KR" dirty="0"/>
              <a:t>HEAD</a:t>
            </a:r>
            <a:r>
              <a:rPr lang="ko-KR" altLang="en-US" dirty="0"/>
              <a:t>를 옮기는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4585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611301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Reset 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HEAD</a:t>
            </a:r>
            <a:r>
              <a:rPr lang="ko-KR" altLang="en-US" dirty="0"/>
              <a:t> 를 특정 </a:t>
            </a:r>
            <a:r>
              <a:rPr lang="en-US" altLang="ko-KR" dirty="0"/>
              <a:t>commit </a:t>
            </a:r>
            <a:r>
              <a:rPr lang="ko-KR" altLang="en-US" dirty="0"/>
              <a:t>으로 옮기는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Revert 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</a:t>
            </a:r>
            <a:r>
              <a:rPr lang="en-US" altLang="ko-KR" dirty="0"/>
              <a:t> commit </a:t>
            </a:r>
            <a:r>
              <a:rPr lang="ko-KR" altLang="en-US" dirty="0"/>
              <a:t>을 취소하는 </a:t>
            </a:r>
            <a:r>
              <a:rPr lang="en-US" altLang="ko-KR" dirty="0"/>
              <a:t>commit</a:t>
            </a:r>
            <a:r>
              <a:rPr lang="ko-KR" altLang="en-US" dirty="0"/>
              <a:t>을 만들고 </a:t>
            </a:r>
            <a:r>
              <a:rPr lang="en-US" altLang="ko-KR" dirty="0"/>
              <a:t>HEAD</a:t>
            </a:r>
            <a:r>
              <a:rPr lang="ko-KR" altLang="en-US" dirty="0"/>
              <a:t>를 해당 위치로 옮기는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Checkout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Branch </a:t>
            </a:r>
            <a:r>
              <a:rPr lang="ko-KR" altLang="en-US" dirty="0"/>
              <a:t>의 마지막 </a:t>
            </a:r>
            <a:r>
              <a:rPr lang="en-US" altLang="ko-KR" dirty="0"/>
              <a:t>Commit </a:t>
            </a:r>
            <a:r>
              <a:rPr lang="ko-KR" altLang="en-US" dirty="0"/>
              <a:t>으로 </a:t>
            </a:r>
            <a:r>
              <a:rPr lang="en-US" altLang="ko-KR" dirty="0"/>
              <a:t>HEAD</a:t>
            </a:r>
            <a:r>
              <a:rPr lang="ko-KR" altLang="en-US" dirty="0"/>
              <a:t>를 옮기는 것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3149F-2A51-4D75-8DC9-D9BB50A1CB44}"/>
              </a:ext>
            </a:extLst>
          </p:cNvPr>
          <p:cNvSpPr txBox="1"/>
          <p:nvPr/>
        </p:nvSpPr>
        <p:spPr>
          <a:xfrm>
            <a:off x="7217545" y="2309078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7E26-688C-4C07-A51A-CAD2C3015AB8}"/>
              </a:ext>
            </a:extLst>
          </p:cNvPr>
          <p:cNvSpPr txBox="1"/>
          <p:nvPr/>
        </p:nvSpPr>
        <p:spPr>
          <a:xfrm>
            <a:off x="7217545" y="3782412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6" name="같음 기호 5">
            <a:extLst>
              <a:ext uri="{FF2B5EF4-FFF2-40B4-BE49-F238E27FC236}">
                <a16:creationId xmlns:a16="http://schemas.microsoft.com/office/drawing/2014/main" id="{0260C9E7-9763-4789-99AA-0C1FFADAD21A}"/>
              </a:ext>
            </a:extLst>
          </p:cNvPr>
          <p:cNvSpPr/>
          <p:nvPr/>
        </p:nvSpPr>
        <p:spPr>
          <a:xfrm rot="5400000">
            <a:off x="8831672" y="2981805"/>
            <a:ext cx="515403" cy="736847"/>
          </a:xfrm>
          <a:prstGeom prst="mathEqual">
            <a:avLst>
              <a:gd name="adj1" fmla="val 10267"/>
              <a:gd name="adj2" fmla="val 310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9F87E-647C-45D6-B8D6-8F99F3143A86}"/>
              </a:ext>
            </a:extLst>
          </p:cNvPr>
          <p:cNvSpPr txBox="1"/>
          <p:nvPr/>
        </p:nvSpPr>
        <p:spPr>
          <a:xfrm>
            <a:off x="9578227" y="3036568"/>
            <a:ext cx="878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E9443-75F3-4D5F-B570-D62330310ADC}"/>
              </a:ext>
            </a:extLst>
          </p:cNvPr>
          <p:cNvSpPr txBox="1"/>
          <p:nvPr/>
        </p:nvSpPr>
        <p:spPr>
          <a:xfrm>
            <a:off x="7217545" y="5293110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9" name="같음 기호 8">
            <a:extLst>
              <a:ext uri="{FF2B5EF4-FFF2-40B4-BE49-F238E27FC236}">
                <a16:creationId xmlns:a16="http://schemas.microsoft.com/office/drawing/2014/main" id="{BA35DEC8-E9EE-42E4-BA61-3942ECFDF04D}"/>
              </a:ext>
            </a:extLst>
          </p:cNvPr>
          <p:cNvSpPr/>
          <p:nvPr/>
        </p:nvSpPr>
        <p:spPr>
          <a:xfrm rot="5400000">
            <a:off x="8831672" y="4554800"/>
            <a:ext cx="515403" cy="736847"/>
          </a:xfrm>
          <a:prstGeom prst="mathEqual">
            <a:avLst>
              <a:gd name="adj1" fmla="val 10267"/>
              <a:gd name="adj2" fmla="val 310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767D-8F0D-4A87-ADB1-32C78ABCA266}"/>
              </a:ext>
            </a:extLst>
          </p:cNvPr>
          <p:cNvSpPr txBox="1"/>
          <p:nvPr/>
        </p:nvSpPr>
        <p:spPr>
          <a:xfrm>
            <a:off x="9578227" y="4590686"/>
            <a:ext cx="878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5274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D9756C0-9F27-44A1-82ED-8E41922C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pic>
        <p:nvPicPr>
          <p:cNvPr id="1026" name="Picture 2" descr="reset workflow">
            <a:extLst>
              <a:ext uri="{FF2B5EF4-FFF2-40B4-BE49-F238E27FC236}">
                <a16:creationId xmlns:a16="http://schemas.microsoft.com/office/drawing/2014/main" id="{FCD5F7B2-351C-49D0-B4A0-1966208E0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55" y="1929687"/>
            <a:ext cx="76200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74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9C00B-D6DB-456F-BB5D-B8D4A497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D2881F-E75F-4E1A-852C-9FAE8F25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9B7AD9-5129-4083-B733-84FA2BF3EAFA}"/>
              </a:ext>
            </a:extLst>
          </p:cNvPr>
          <p:cNvSpPr txBox="1"/>
          <p:nvPr/>
        </p:nvSpPr>
        <p:spPr>
          <a:xfrm>
            <a:off x="838200" y="1611375"/>
            <a:ext cx="4069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848254-6B97-4C60-9C13-AA1CA8D0A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7" name="부등호 6">
            <a:extLst>
              <a:ext uri="{FF2B5EF4-FFF2-40B4-BE49-F238E27FC236}">
                <a16:creationId xmlns:a16="http://schemas.microsoft.com/office/drawing/2014/main" id="{5B485022-F330-4575-B42B-EF3BB7C3C4BE}"/>
              </a:ext>
            </a:extLst>
          </p:cNvPr>
          <p:cNvSpPr/>
          <p:nvPr/>
        </p:nvSpPr>
        <p:spPr>
          <a:xfrm>
            <a:off x="9135990" y="4818552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같음 기호 9">
            <a:extLst>
              <a:ext uri="{FF2B5EF4-FFF2-40B4-BE49-F238E27FC236}">
                <a16:creationId xmlns:a16="http://schemas.microsoft.com/office/drawing/2014/main" id="{C705F2A5-C8D7-4456-A43D-C9EA35A5E5C9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95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40697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</a:p>
          <a:p>
            <a:r>
              <a:rPr lang="en-US" altLang="ko-KR" sz="3600" dirty="0"/>
              <a:t>Git add .;</a:t>
            </a:r>
            <a:endParaRPr lang="ko-KR" altLang="en-US" sz="3600" dirty="0"/>
          </a:p>
        </p:txBody>
      </p:sp>
      <p:sp>
        <p:nvSpPr>
          <p:cNvPr id="8" name="같음 기호 7">
            <a:extLst>
              <a:ext uri="{FF2B5EF4-FFF2-40B4-BE49-F238E27FC236}">
                <a16:creationId xmlns:a16="http://schemas.microsoft.com/office/drawing/2014/main" id="{D2DCDDB6-23F7-4337-938E-3DD34974D65F}"/>
              </a:ext>
            </a:extLst>
          </p:cNvPr>
          <p:cNvSpPr/>
          <p:nvPr/>
        </p:nvSpPr>
        <p:spPr>
          <a:xfrm>
            <a:off x="9164232" y="472748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부등호 8">
            <a:extLst>
              <a:ext uri="{FF2B5EF4-FFF2-40B4-BE49-F238E27FC236}">
                <a16:creationId xmlns:a16="http://schemas.microsoft.com/office/drawing/2014/main" id="{37E4A191-CA5B-4DFD-8E55-F51F532BF08C}"/>
              </a:ext>
            </a:extLst>
          </p:cNvPr>
          <p:cNvSpPr/>
          <p:nvPr/>
        </p:nvSpPr>
        <p:spPr>
          <a:xfrm>
            <a:off x="7520254" y="482241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72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//eb43bf8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392EFC-0E43-4D37-94B8-FE6617BF3190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E5A4F0D-6A8A-4114-BD0C-88421D1FB444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E4F5F-BA67-4D35-80C8-48FEE583C2BE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5" name="같음 기호 14">
            <a:extLst>
              <a:ext uri="{FF2B5EF4-FFF2-40B4-BE49-F238E27FC236}">
                <a16:creationId xmlns:a16="http://schemas.microsoft.com/office/drawing/2014/main" id="{113AFAA0-0DA7-4DDC-94CA-1EA5C78F2E58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같음 기호 15">
            <a:extLst>
              <a:ext uri="{FF2B5EF4-FFF2-40B4-BE49-F238E27FC236}">
                <a16:creationId xmlns:a16="http://schemas.microsoft.com/office/drawing/2014/main" id="{48B24FF1-3F64-49C7-90FF-210C867C8927}"/>
              </a:ext>
            </a:extLst>
          </p:cNvPr>
          <p:cNvSpPr/>
          <p:nvPr/>
        </p:nvSpPr>
        <p:spPr>
          <a:xfrm>
            <a:off x="9198376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562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8" name="부등호 17">
            <a:extLst>
              <a:ext uri="{FF2B5EF4-FFF2-40B4-BE49-F238E27FC236}">
                <a16:creationId xmlns:a16="http://schemas.microsoft.com/office/drawing/2014/main" id="{534D3758-ED55-45B8-9AD9-DD6111EA1628}"/>
              </a:ext>
            </a:extLst>
          </p:cNvPr>
          <p:cNvSpPr/>
          <p:nvPr/>
        </p:nvSpPr>
        <p:spPr>
          <a:xfrm>
            <a:off x="9135990" y="4818552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같음 기호 18">
            <a:extLst>
              <a:ext uri="{FF2B5EF4-FFF2-40B4-BE49-F238E27FC236}">
                <a16:creationId xmlns:a16="http://schemas.microsoft.com/office/drawing/2014/main" id="{90610A92-3E81-4A6E-AC90-13E2A361010E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28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</a:p>
          <a:p>
            <a:r>
              <a:rPr lang="en-US" altLang="ko-KR" sz="3600" dirty="0"/>
              <a:t>Git add .;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0A8227-2E5A-4E32-BF89-186B737E2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9204568" y="4716142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부등호 19">
            <a:extLst>
              <a:ext uri="{FF2B5EF4-FFF2-40B4-BE49-F238E27FC236}">
                <a16:creationId xmlns:a16="http://schemas.microsoft.com/office/drawing/2014/main" id="{A804929E-9FF9-496E-B9B0-E53C5706A9BE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3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//9e5e6a4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0A8227-2E5A-4E32-BF89-186B737E2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41A479-849F-4F8E-8903-4A5103B22639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6F2CF4F-8C02-4487-BBDD-F3C2A29F0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AAAC206-E4AC-4056-A363-A4C83C066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924" y="2980573"/>
            <a:ext cx="989533" cy="7313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8924" y="1880001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3876" y="3183484"/>
            <a:ext cx="707369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678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 file.txt; //v3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//38eb946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367" y="1897686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7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367" y="1897686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772221"/>
            <a:ext cx="48226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[option]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ID</a:t>
            </a:r>
            <a:r>
              <a:rPr lang="ko-KR" altLang="en-US" sz="2800" dirty="0"/>
              <a:t> 로 버전 이동</a:t>
            </a: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Option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--soft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--mixed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--hard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7338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(--soft)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--soft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4022191" y="1380111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6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(--mixed)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--mixed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2425872" y="1453675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782B886-9A5B-4EE4-B68D-ADFD14628C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32" name="부등호 31">
            <a:extLst>
              <a:ext uri="{FF2B5EF4-FFF2-40B4-BE49-F238E27FC236}">
                <a16:creationId xmlns:a16="http://schemas.microsoft.com/office/drawing/2014/main" id="{E83372E6-1ACC-4AB2-95A7-6BAEE9FE4BEB}"/>
              </a:ext>
            </a:extLst>
          </p:cNvPr>
          <p:cNvSpPr/>
          <p:nvPr/>
        </p:nvSpPr>
        <p:spPr>
          <a:xfrm>
            <a:off x="9138322" y="481346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A5F9A-21BC-4016-B13D-6C12D0FDF60D}"/>
              </a:ext>
            </a:extLst>
          </p:cNvPr>
          <p:cNvSpPr txBox="1"/>
          <p:nvPr/>
        </p:nvSpPr>
        <p:spPr>
          <a:xfrm>
            <a:off x="7098151" y="1106411"/>
            <a:ext cx="284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Index </a:t>
            </a:r>
            <a:r>
              <a:rPr lang="ko-KR" altLang="en-US" dirty="0"/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10663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3" grpId="0" animBg="1"/>
      <p:bldP spid="6" grpId="0"/>
      <p:bldP spid="7" grpId="0"/>
      <p:bldP spid="7" grpId="1"/>
      <p:bldP spid="7" grpId="2"/>
      <p:bldP spid="30" grpId="0" animBg="1"/>
      <p:bldP spid="30" grpId="1" animBg="1"/>
      <p:bldP spid="32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(--hard)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--hard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2425872" y="1453675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782B886-9A5B-4EE4-B68D-ADFD14628C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32" name="부등호 31">
            <a:extLst>
              <a:ext uri="{FF2B5EF4-FFF2-40B4-BE49-F238E27FC236}">
                <a16:creationId xmlns:a16="http://schemas.microsoft.com/office/drawing/2014/main" id="{E83372E6-1ACC-4AB2-95A7-6BAEE9FE4BEB}"/>
              </a:ext>
            </a:extLst>
          </p:cNvPr>
          <p:cNvSpPr/>
          <p:nvPr/>
        </p:nvSpPr>
        <p:spPr>
          <a:xfrm>
            <a:off x="9138322" y="481346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A5F9A-21BC-4016-B13D-6C12D0FDF60D}"/>
              </a:ext>
            </a:extLst>
          </p:cNvPr>
          <p:cNvSpPr txBox="1"/>
          <p:nvPr/>
        </p:nvSpPr>
        <p:spPr>
          <a:xfrm>
            <a:off x="7098151" y="1106411"/>
            <a:ext cx="284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Index </a:t>
            </a:r>
            <a:r>
              <a:rPr lang="ko-KR" altLang="en-US" dirty="0"/>
              <a:t>업데이트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33C86-B0F0-4D4E-9C71-3D3850161081}"/>
              </a:ext>
            </a:extLst>
          </p:cNvPr>
          <p:cNvSpPr txBox="1"/>
          <p:nvPr/>
        </p:nvSpPr>
        <p:spPr>
          <a:xfrm>
            <a:off x="7098150" y="1094570"/>
            <a:ext cx="360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working </a:t>
            </a:r>
            <a:r>
              <a:rPr lang="en-US" altLang="ko-KR" dirty="0" err="1"/>
              <a:t>dir</a:t>
            </a:r>
            <a:r>
              <a:rPr lang="en-US" altLang="ko-KR" dirty="0"/>
              <a:t> </a:t>
            </a:r>
            <a:r>
              <a:rPr lang="ko-KR" altLang="en-US" dirty="0"/>
              <a:t>업데이트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3EA9678-3778-4245-9F33-096D8865EF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2940" y="4662162"/>
            <a:ext cx="975804" cy="59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3" grpId="0" animBg="1"/>
      <p:bldP spid="23" grpId="1" animBg="1"/>
      <p:bldP spid="6" grpId="0"/>
      <p:bldP spid="7" grpId="0"/>
      <p:bldP spid="7" grpId="1"/>
      <p:bldP spid="7" grpId="2"/>
      <p:bldP spid="7" grpId="3"/>
      <p:bldP spid="7" grpId="4"/>
      <p:bldP spid="30" grpId="0" animBg="1"/>
      <p:bldP spid="30" grpId="1" animBg="1"/>
      <p:bldP spid="32" grpId="0" animBg="1"/>
      <p:bldP spid="32" grpId="1" animBg="1"/>
      <p:bldP spid="14" grpId="0"/>
      <p:bldP spid="14" grpId="1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26465-5FEB-431D-95CF-13A4769F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</a:t>
            </a:r>
            <a:r>
              <a:rPr lang="ko-KR" altLang="en-US" dirty="0"/>
              <a:t>응용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402F6-3799-4C08-8781-B7D985D7B8AD}"/>
              </a:ext>
            </a:extLst>
          </p:cNvPr>
          <p:cNvSpPr txBox="1"/>
          <p:nvPr/>
        </p:nvSpPr>
        <p:spPr>
          <a:xfrm>
            <a:off x="2367815" y="1925053"/>
            <a:ext cx="158816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C1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00710-5B2C-40A5-9A0B-0C66D3699446}"/>
              </a:ext>
            </a:extLst>
          </p:cNvPr>
          <p:cNvSpPr txBox="1"/>
          <p:nvPr/>
        </p:nvSpPr>
        <p:spPr>
          <a:xfrm>
            <a:off x="5119036" y="1925053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C2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c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68537-A71F-480C-A461-A5CA36811259}"/>
              </a:ext>
            </a:extLst>
          </p:cNvPr>
          <p:cNvSpPr txBox="1"/>
          <p:nvPr/>
        </p:nvSpPr>
        <p:spPr>
          <a:xfrm>
            <a:off x="7870257" y="1925053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C3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d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760FD0-D8FF-4EB8-BFD5-6F183AB7E9AC}"/>
              </a:ext>
            </a:extLst>
          </p:cNvPr>
          <p:cNvCxnSpPr>
            <a:stCxn id="4" idx="1"/>
            <a:endCxn id="3" idx="3"/>
          </p:cNvCxnSpPr>
          <p:nvPr/>
        </p:nvCxnSpPr>
        <p:spPr>
          <a:xfrm flipH="1" flipV="1">
            <a:off x="3955983" y="2248219"/>
            <a:ext cx="1163053" cy="13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0C564A7-6B08-4D82-B0E5-A5C3B0FEEE9D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6707204" y="2386718"/>
            <a:ext cx="1163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6B35A1B8-883C-46C6-BC4E-1D3DA217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02" y="824481"/>
            <a:ext cx="998193" cy="1100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5A870F-8C18-490A-8A5A-36ABBEDDB29E}"/>
              </a:ext>
            </a:extLst>
          </p:cNvPr>
          <p:cNvSpPr txBox="1"/>
          <p:nvPr/>
        </p:nvSpPr>
        <p:spPr>
          <a:xfrm>
            <a:off x="2367815" y="5387189"/>
            <a:ext cx="158816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C1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ADC7D-A581-48A2-A1A7-61ABEB039015}"/>
              </a:ext>
            </a:extLst>
          </p:cNvPr>
          <p:cNvSpPr txBox="1"/>
          <p:nvPr/>
        </p:nvSpPr>
        <p:spPr>
          <a:xfrm>
            <a:off x="7870257" y="5387189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C4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d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557375C-7551-4E85-B13F-FB6F9B76A99D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 flipV="1">
            <a:off x="3955983" y="5710355"/>
            <a:ext cx="3914274" cy="13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9D29E992-C4E3-4A8F-A3B0-82162467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02" y="4286617"/>
            <a:ext cx="998193" cy="1100572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93C4EBB7-48AF-4A19-85EB-520BC110C142}"/>
              </a:ext>
            </a:extLst>
          </p:cNvPr>
          <p:cNvSpPr/>
          <p:nvPr/>
        </p:nvSpPr>
        <p:spPr>
          <a:xfrm>
            <a:off x="4369869" y="3262964"/>
            <a:ext cx="3580598" cy="9233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69699-5B59-4C1D-BA8C-99A8BD8030B3}"/>
              </a:ext>
            </a:extLst>
          </p:cNvPr>
          <p:cNvSpPr txBox="1"/>
          <p:nvPr/>
        </p:nvSpPr>
        <p:spPr>
          <a:xfrm>
            <a:off x="2743200" y="3474721"/>
            <a:ext cx="7584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</a:rPr>
              <a:t>부끄러운</a:t>
            </a:r>
            <a:r>
              <a:rPr lang="en-US" altLang="ko-KR" sz="2800" b="1" dirty="0">
                <a:solidFill>
                  <a:srgbClr val="002060"/>
                </a:solidFill>
              </a:rPr>
              <a:t> </a:t>
            </a:r>
            <a:r>
              <a:rPr lang="ko-KR" altLang="en-US" sz="2800" b="1" dirty="0">
                <a:solidFill>
                  <a:srgbClr val="002060"/>
                </a:solidFill>
              </a:rPr>
              <a:t>중간 </a:t>
            </a:r>
            <a:r>
              <a:rPr lang="ko-KR" altLang="en-US" sz="2800" b="1" dirty="0" err="1">
                <a:solidFill>
                  <a:srgbClr val="002060"/>
                </a:solidFill>
              </a:rPr>
              <a:t>커밋을</a:t>
            </a:r>
            <a:r>
              <a:rPr lang="ko-KR" altLang="en-US" sz="2800" b="1" dirty="0">
                <a:solidFill>
                  <a:srgbClr val="002060"/>
                </a:solidFill>
              </a:rPr>
              <a:t> 삭제하고 싶을 때</a:t>
            </a:r>
          </a:p>
        </p:txBody>
      </p:sp>
    </p:spTree>
    <p:extLst>
      <p:ext uri="{BB962C8B-B14F-4D97-AF65-F5344CB8AC3E}">
        <p14:creationId xmlns:p14="http://schemas.microsoft.com/office/powerpoint/2010/main" val="3528234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checkout</a:t>
            </a:r>
          </a:p>
          <a:p>
            <a:endParaRPr lang="en-US" altLang="ko-KR" dirty="0"/>
          </a:p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  <a:p>
            <a:pPr lvl="1"/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</a:p>
          <a:p>
            <a:pPr lvl="1"/>
            <a:r>
              <a:rPr lang="en-US" altLang="ko-KR" dirty="0"/>
              <a:t>Git checkout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0409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856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checkout [branch]</a:t>
            </a:r>
          </a:p>
          <a:p>
            <a:endParaRPr lang="en-US" altLang="ko-KR" dirty="0"/>
          </a:p>
          <a:p>
            <a:r>
              <a:rPr lang="en-US" altLang="ko-KR" dirty="0"/>
              <a:t>HEAD </a:t>
            </a:r>
            <a:r>
              <a:rPr lang="ko-KR" altLang="en-US" dirty="0"/>
              <a:t>를 다른 </a:t>
            </a:r>
            <a:r>
              <a:rPr lang="ko-KR" altLang="en-US" dirty="0" err="1"/>
              <a:t>브랜치로</a:t>
            </a:r>
            <a:r>
              <a:rPr lang="ko-KR" altLang="en-US" dirty="0"/>
              <a:t> 옮기는 명령어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git reset </a:t>
            </a:r>
            <a:r>
              <a:rPr lang="ko-KR" altLang="en-US" dirty="0"/>
              <a:t>이 현재 </a:t>
            </a:r>
            <a:r>
              <a:rPr lang="ko-KR" altLang="en-US" dirty="0" err="1"/>
              <a:t>브랜치가</a:t>
            </a:r>
            <a:r>
              <a:rPr lang="en-US" altLang="ko-KR" dirty="0"/>
              <a:t>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ko-KR" altLang="en-US" dirty="0" err="1"/>
              <a:t>커밋을</a:t>
            </a:r>
            <a:r>
              <a:rPr lang="ko-KR" altLang="en-US" dirty="0"/>
              <a:t> 옮기는 거라면 </a:t>
            </a:r>
            <a:r>
              <a:rPr lang="en-US" altLang="ko-KR" dirty="0"/>
              <a:t>checkout</a:t>
            </a:r>
            <a:r>
              <a:rPr lang="ko-KR" altLang="en-US" dirty="0"/>
              <a:t>은 </a:t>
            </a:r>
            <a:r>
              <a:rPr lang="en-US" altLang="ko-KR" dirty="0"/>
              <a:t>HEAD</a:t>
            </a:r>
            <a:r>
              <a:rPr lang="ko-KR" altLang="en-US" dirty="0"/>
              <a:t>를 입력한 </a:t>
            </a:r>
            <a:r>
              <a:rPr lang="ko-KR" altLang="en-US" dirty="0" err="1"/>
              <a:t>브랜치가</a:t>
            </a:r>
            <a:r>
              <a:rPr lang="ko-KR" altLang="en-US" dirty="0"/>
              <a:t>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ko-KR" altLang="en-US" dirty="0" err="1"/>
              <a:t>커밋으로</a:t>
            </a:r>
            <a:r>
              <a:rPr lang="ko-KR" altLang="en-US" dirty="0"/>
              <a:t> 옮기는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200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527B49-018D-432F-89A1-3775C38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2C0468D-9D65-42C4-9106-22B2D29C3A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 err="1"/>
              <a:t>init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Vim a.txt; //a</a:t>
            </a:r>
          </a:p>
          <a:p>
            <a:r>
              <a:rPr lang="en-US" altLang="ko-KR" dirty="0"/>
              <a:t>Git add .;</a:t>
            </a:r>
          </a:p>
          <a:p>
            <a:r>
              <a:rPr lang="en-US" altLang="ko-KR" dirty="0"/>
              <a:t>Git commit; //A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2847E6-D7EF-4F3C-A7DC-2C3C4F4B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581" y="2126213"/>
            <a:ext cx="1447800" cy="1485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B7BCF4E-7BC6-43D6-BA4A-1DA4FCE0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631" y="1240388"/>
            <a:ext cx="14287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30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527B49-018D-432F-89A1-3775C38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2C0468D-9D65-42C4-9106-22B2D29C3A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</a:t>
            </a:r>
          </a:p>
          <a:p>
            <a:r>
              <a:rPr lang="en-US" altLang="ko-KR" dirty="0"/>
              <a:t>Git branch develop;</a:t>
            </a:r>
          </a:p>
          <a:p>
            <a:r>
              <a:rPr lang="en-US" altLang="ko-KR" dirty="0"/>
              <a:t>Git checkout develop;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370D0E5-CC14-4111-A764-9E165F12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029" y="2006083"/>
            <a:ext cx="1428750" cy="8858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B81658-EFA5-4F5D-906B-B9229E41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935" y="2910666"/>
            <a:ext cx="1438275" cy="8763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D12E2F-424A-450D-9D65-14E00C272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438" y="3825357"/>
            <a:ext cx="1447800" cy="5619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F43E04-8D23-4AFA-911E-B78DA098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504" y="2896670"/>
            <a:ext cx="14382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8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11875 0.0013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C3116-D3D1-40FC-8C1E-6DA4947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9C57D-DA85-4D96-9C47-C181D8D2AD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</a:t>
            </a:r>
          </a:p>
          <a:p>
            <a:r>
              <a:rPr lang="en-US" altLang="ko-KR" dirty="0"/>
              <a:t>Vim b.txt; //b</a:t>
            </a:r>
          </a:p>
          <a:p>
            <a:r>
              <a:rPr lang="en-US" altLang="ko-KR" dirty="0"/>
              <a:t>Git add .;</a:t>
            </a:r>
          </a:p>
          <a:p>
            <a:r>
              <a:rPr lang="en-US" altLang="ko-KR" dirty="0"/>
              <a:t>Git commit; //B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FBF659-23C8-4733-87CF-4F0B12A3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F39580-91E1-4935-BE80-F3EAD9A4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8132FA-0FA7-4FFF-8275-80B978975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9D6CAB-13B3-459D-B32C-C83FF406D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630" y="203389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72AB37-15EC-421E-B6D3-9571A1D15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52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D946F-9C81-42FC-B857-ED0E556A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A1699-4934-4951-B2D0-7195DBB3F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~8</a:t>
            </a:r>
            <a:r>
              <a:rPr lang="ko-KR" altLang="en-US" dirty="0"/>
              <a:t>번 슬라이드</a:t>
            </a:r>
            <a:endParaRPr lang="en-US" altLang="ko-KR" dirty="0"/>
          </a:p>
          <a:p>
            <a:r>
              <a:rPr lang="en-US" altLang="ko-KR" dirty="0"/>
              <a:t>Git reset master;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9ABFB-957F-42D6-92B6-5EDDE54D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946E4B-B29A-46C6-9831-2A1370FD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DF15EF-25D0-4BA6-9C81-235BCF21F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69DE85-877A-44ED-8D38-7F4D697C9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205294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CDFCCD-5251-4C02-B30A-93717CB0A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4EB7A4-0F07-4FC2-8F42-83521B0DD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389" y="2929245"/>
            <a:ext cx="1438275" cy="876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4AE65D-C88E-492A-9452-0ED8E35EDF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2958" y="2915249"/>
            <a:ext cx="14382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09466 -0.0011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D946F-9C81-42FC-B857-ED0E556A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A1699-4934-4951-B2D0-7195DBB3F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~8</a:t>
            </a:r>
            <a:r>
              <a:rPr lang="ko-KR" altLang="en-US" dirty="0"/>
              <a:t>번 슬라이드</a:t>
            </a:r>
            <a:endParaRPr lang="en-US" altLang="ko-KR" dirty="0"/>
          </a:p>
          <a:p>
            <a:r>
              <a:rPr lang="en-US" altLang="ko-KR" dirty="0"/>
              <a:t>Git checkout master;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9ABFB-957F-42D6-92B6-5EDDE54D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946E4B-B29A-46C6-9831-2A1370FD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DF15EF-25D0-4BA6-9C81-235BCF21F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69DE85-877A-44ED-8D38-7F4D697C9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205294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CDFCCD-5251-4C02-B30A-93717CB0A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0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15364 -0.003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8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B570D14-6ACA-4126-9073-E233F893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 : </a:t>
            </a:r>
            <a:r>
              <a:rPr lang="ko-KR" altLang="en-US" dirty="0"/>
              <a:t>복잡한 예제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56B7531-C385-4DD4-B189-145CB87D6D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~10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en-US" altLang="ko-KR" dirty="0"/>
              <a:t>Git reset develop;</a:t>
            </a:r>
            <a:r>
              <a:rPr lang="ko-KR" altLang="en-US" dirty="0"/>
              <a:t>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8CDE885-45BE-42E1-96F6-2E9328A6DD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~10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en-US" altLang="ko-KR" dirty="0"/>
              <a:t>Git reset --soft develop;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D483EC-4580-BA06-CDF8-10EE5D3DA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063" y="5364442"/>
            <a:ext cx="1447800" cy="5619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15DA3B-4E68-92E0-60F3-D796A54CE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63" y="5364442"/>
            <a:ext cx="1962150" cy="5619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D84948-B85D-2D59-B426-180547CFF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491" y="4440517"/>
            <a:ext cx="1409700" cy="923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97252E-128E-EFA8-10CD-D116603AC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7588" y="3615811"/>
            <a:ext cx="1428750" cy="8858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7C2E76-92F1-3188-C853-6AFA60E3A9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7588" y="4450042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5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15364 -0.00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8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898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2D3C5D0-02DA-48EC-BD2A-9924EE59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DA0C9C-6592-49C0-940B-FE09820D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</a:t>
            </a:r>
            <a:r>
              <a:rPr lang="en-US" altLang="ko-KR" dirty="0"/>
              <a:t>[commit] &lt;paths&gt;</a:t>
            </a:r>
          </a:p>
          <a:p>
            <a:r>
              <a:rPr lang="en-US" altLang="ko-KR" dirty="0"/>
              <a:t>Git checkout [commit] &lt;paths&gt;</a:t>
            </a:r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HEAD</a:t>
            </a:r>
            <a:r>
              <a:rPr lang="ko-KR" altLang="en-US" dirty="0">
                <a:solidFill>
                  <a:srgbClr val="FF0000"/>
                </a:solidFill>
              </a:rPr>
              <a:t> 는 옮겨지지 않음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Paths </a:t>
            </a:r>
            <a:r>
              <a:rPr lang="ko-KR" altLang="en-US" dirty="0"/>
              <a:t>에 주어진 파일만 해당 커밋 기준 내용으로 재구성 됨</a:t>
            </a:r>
          </a:p>
        </p:txBody>
      </p:sp>
    </p:spTree>
    <p:extLst>
      <p:ext uri="{BB962C8B-B14F-4D97-AF65-F5344CB8AC3E}">
        <p14:creationId xmlns:p14="http://schemas.microsoft.com/office/powerpoint/2010/main" val="982037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713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B55AC0-8C12-46E7-A3E2-99C7591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5F3237-703D-4E57-9456-61E8A064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479" y="1553873"/>
            <a:ext cx="5873215" cy="5073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0D19A-5F85-4128-9822-E54D375F9F39}"/>
              </a:ext>
            </a:extLst>
          </p:cNvPr>
          <p:cNvSpPr txBox="1"/>
          <p:nvPr/>
        </p:nvSpPr>
        <p:spPr>
          <a:xfrm>
            <a:off x="7099433" y="2510104"/>
            <a:ext cx="4600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HEAD : </a:t>
            </a:r>
            <a:r>
              <a:rPr lang="ko-KR" altLang="en-US" dirty="0" err="1"/>
              <a:t>브랜치의</a:t>
            </a:r>
            <a:r>
              <a:rPr lang="en-US" altLang="ko-KR" dirty="0"/>
              <a:t> HEAD</a:t>
            </a:r>
            <a:r>
              <a:rPr lang="ko-KR" altLang="en-US" dirty="0"/>
              <a:t> 가 옮겨 지는가</a:t>
            </a:r>
            <a:r>
              <a:rPr lang="en-US" altLang="ko-KR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주어진 </a:t>
            </a:r>
            <a:r>
              <a:rPr lang="en-US" altLang="ko-KR" dirty="0"/>
              <a:t>commit</a:t>
            </a:r>
            <a:r>
              <a:rPr lang="ko-KR" altLang="en-US" dirty="0"/>
              <a:t> 으로 </a:t>
            </a:r>
            <a:r>
              <a:rPr lang="ko-KR" altLang="en-US" dirty="0" err="1"/>
              <a:t>옮겨짐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HEAD –branch</a:t>
            </a:r>
            <a:r>
              <a:rPr lang="ko-KR" altLang="en-US" dirty="0"/>
              <a:t>가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en-US" altLang="ko-KR" dirty="0"/>
              <a:t>commit</a:t>
            </a:r>
            <a:r>
              <a:rPr lang="ko-KR" altLang="en-US" dirty="0"/>
              <a:t>으로 </a:t>
            </a:r>
            <a:r>
              <a:rPr lang="ko-KR" altLang="en-US" dirty="0" err="1"/>
              <a:t>옮겨짐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NO – </a:t>
            </a:r>
            <a:r>
              <a:rPr lang="ko-KR" altLang="en-US" dirty="0"/>
              <a:t>변화 없음</a:t>
            </a:r>
            <a:r>
              <a:rPr lang="en-US" altLang="ko-KR" dirty="0"/>
              <a:t>, </a:t>
            </a:r>
            <a:r>
              <a:rPr lang="ko-KR" altLang="en-US" dirty="0"/>
              <a:t>안전하지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6257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stash</a:t>
            </a:r>
          </a:p>
          <a:p>
            <a:endParaRPr lang="en-US" altLang="ko-KR" dirty="0"/>
          </a:p>
          <a:p>
            <a:r>
              <a:rPr lang="en-US" altLang="ko-KR" dirty="0"/>
              <a:t>Git clean</a:t>
            </a:r>
          </a:p>
        </p:txBody>
      </p:sp>
    </p:spTree>
    <p:extLst>
      <p:ext uri="{BB962C8B-B14F-4D97-AF65-F5344CB8AC3E}">
        <p14:creationId xmlns:p14="http://schemas.microsoft.com/office/powerpoint/2010/main" val="3020694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466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stash [command] [option]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완료되지</a:t>
            </a:r>
            <a:r>
              <a:rPr lang="en-US" altLang="ko-KR" dirty="0"/>
              <a:t> </a:t>
            </a:r>
            <a:r>
              <a:rPr lang="ko-KR" altLang="en-US" dirty="0"/>
              <a:t>않은 작업을 저장</a:t>
            </a:r>
            <a:endParaRPr lang="en-US" altLang="ko-KR" dirty="0"/>
          </a:p>
          <a:p>
            <a:pPr lvl="1"/>
            <a:r>
              <a:rPr lang="ko-KR" altLang="en-US" dirty="0"/>
              <a:t>나중에 불러와 작업 진행 가능</a:t>
            </a:r>
            <a:endParaRPr lang="en-US" altLang="ko-KR" dirty="0"/>
          </a:p>
          <a:p>
            <a:pPr lvl="1"/>
            <a:r>
              <a:rPr lang="en-US" altLang="ko-KR" dirty="0"/>
              <a:t>Stack </a:t>
            </a:r>
            <a:r>
              <a:rPr lang="ko-KR" altLang="en-US" dirty="0"/>
              <a:t>자료구조</a:t>
            </a:r>
            <a:r>
              <a:rPr lang="en-US" altLang="ko-KR" dirty="0"/>
              <a:t> </a:t>
            </a:r>
            <a:r>
              <a:rPr lang="ko-KR" altLang="en-US" dirty="0"/>
              <a:t>형태로 저장됨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Command</a:t>
            </a:r>
          </a:p>
          <a:p>
            <a:pPr lvl="1"/>
            <a:r>
              <a:rPr lang="en-US" altLang="ko-KR" dirty="0"/>
              <a:t>Push</a:t>
            </a:r>
          </a:p>
          <a:p>
            <a:pPr lvl="1"/>
            <a:r>
              <a:rPr lang="en-US" altLang="ko-KR" dirty="0"/>
              <a:t>Option : -u, --keep-index, --all</a:t>
            </a:r>
          </a:p>
          <a:p>
            <a:pPr lvl="1"/>
            <a:r>
              <a:rPr lang="en-US" altLang="ko-KR" dirty="0"/>
              <a:t>-m </a:t>
            </a:r>
            <a:r>
              <a:rPr lang="en-US" altLang="ko-KR"/>
              <a:t>“message”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37455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57CECD5-A093-424A-BD4F-F394C1940AEE}"/>
              </a:ext>
            </a:extLst>
          </p:cNvPr>
          <p:cNvSpPr/>
          <p:nvPr/>
        </p:nvSpPr>
        <p:spPr>
          <a:xfrm>
            <a:off x="8394624" y="365125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5445" cy="4351338"/>
          </a:xfrm>
        </p:spPr>
        <p:txBody>
          <a:bodyPr/>
          <a:lstStyle/>
          <a:p>
            <a:r>
              <a:rPr lang="en-US" altLang="ko-KR" dirty="0"/>
              <a:t>Git stash; </a:t>
            </a:r>
          </a:p>
          <a:p>
            <a:pPr lvl="1"/>
            <a:r>
              <a:rPr lang="en-US" altLang="ko-KR" dirty="0"/>
              <a:t>Git stash push; </a:t>
            </a:r>
            <a:r>
              <a:rPr lang="ko-KR" altLang="en-US" dirty="0"/>
              <a:t>와 같음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내역만 </a:t>
            </a:r>
            <a:r>
              <a:rPr lang="ko-KR" altLang="en-US" dirty="0"/>
              <a:t>저장</a:t>
            </a:r>
            <a:r>
              <a:rPr lang="en-US" altLang="ko-KR" dirty="0"/>
              <a:t>, untracked </a:t>
            </a:r>
            <a:r>
              <a:rPr lang="ko-KR" altLang="en-US" dirty="0"/>
              <a:t>파일은 저장 하지 않음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HEAD</a:t>
            </a:r>
            <a:r>
              <a:rPr lang="ko-KR" altLang="en-US" dirty="0"/>
              <a:t>의 </a:t>
            </a:r>
            <a:r>
              <a:rPr lang="en-US" altLang="ko-KR" dirty="0"/>
              <a:t>snapshot </a:t>
            </a:r>
            <a:r>
              <a:rPr lang="ko-KR" altLang="en-US" dirty="0"/>
              <a:t>내용으로 복원됨</a:t>
            </a:r>
            <a:r>
              <a:rPr lang="en-US" altLang="ko-KR" dirty="0"/>
              <a:t>(untracked file</a:t>
            </a:r>
            <a:r>
              <a:rPr lang="ko-KR" altLang="en-US" dirty="0"/>
              <a:t>은 남아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98099F-DEA2-4770-A695-6C17F535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7ADA3D-15E0-4A46-9C33-6B9FEE7F9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67A429-854B-4E03-8FF7-F1F69D84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CCC950-E3FA-4685-862F-E43E212CE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4036DC-5509-4DEA-A61F-3EA22D606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0595E9-D3CF-4A4A-8D0E-CF93BFC2C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00827D7-1195-44C0-8BF6-8D80114DC98B}"/>
              </a:ext>
            </a:extLst>
          </p:cNvPr>
          <p:cNvSpPr/>
          <p:nvPr/>
        </p:nvSpPr>
        <p:spPr>
          <a:xfrm>
            <a:off x="5425022" y="602757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83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52786 -0.5810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2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81448B3-95C3-4E63-A7DE-259DC919E52E}"/>
              </a:ext>
            </a:extLst>
          </p:cNvPr>
          <p:cNvSpPr/>
          <p:nvPr/>
        </p:nvSpPr>
        <p:spPr>
          <a:xfrm>
            <a:off x="8394624" y="365125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-u;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 및 </a:t>
            </a:r>
            <a:r>
              <a:rPr lang="en-US" altLang="ko-KR" dirty="0">
                <a:solidFill>
                  <a:srgbClr val="FF0000"/>
                </a:solidFill>
              </a:rPr>
              <a:t>untracked </a:t>
            </a:r>
            <a:r>
              <a:rPr lang="ko-KR" altLang="en-US" dirty="0">
                <a:solidFill>
                  <a:srgbClr val="FF0000"/>
                </a:solidFill>
              </a:rPr>
              <a:t>파일 까지 </a:t>
            </a:r>
            <a:r>
              <a:rPr lang="ko-KR" altLang="en-US" dirty="0"/>
              <a:t>저장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working tree </a:t>
            </a:r>
            <a:r>
              <a:rPr lang="ko-KR" altLang="en-US" dirty="0"/>
              <a:t>는 </a:t>
            </a:r>
            <a:r>
              <a:rPr lang="en-US" altLang="ko-KR" dirty="0"/>
              <a:t>clean </a:t>
            </a:r>
            <a:r>
              <a:rPr lang="ko-KR" altLang="en-US" dirty="0"/>
              <a:t>상태로 바뀜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6DC82C-6EC3-4632-9E79-E293F6DD1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FE2D31-1950-4F3D-BD94-07C32A89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706715-EFDD-4A2C-9D74-D22043BE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0DDFDD-F301-4C3A-9C31-86D65507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F3ED37-CDC7-4AD9-A760-6A11E763B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FAFC78C-F484-4BDE-BEE1-68C5821E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136D8F5-B106-4341-B2CB-2D593492AB20}"/>
              </a:ext>
            </a:extLst>
          </p:cNvPr>
          <p:cNvSpPr/>
          <p:nvPr/>
        </p:nvSpPr>
        <p:spPr>
          <a:xfrm>
            <a:off x="5425022" y="601806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34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46744 -0.5435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72" y="-27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0.40417 -0.6777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3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--keep-index;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내역만 </a:t>
            </a:r>
            <a:r>
              <a:rPr lang="ko-KR" altLang="en-US" dirty="0"/>
              <a:t>저장</a:t>
            </a:r>
            <a:r>
              <a:rPr lang="en-US" altLang="ko-KR" dirty="0"/>
              <a:t>, untracked </a:t>
            </a:r>
            <a:r>
              <a:rPr lang="ko-KR" altLang="en-US" dirty="0"/>
              <a:t>파일은 저장 하지 않음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index</a:t>
            </a:r>
            <a:r>
              <a:rPr lang="ko-KR" altLang="en-US" dirty="0"/>
              <a:t> 는 그대로 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EE16B66-FB89-43C6-B883-BD74A9CC81B6}"/>
              </a:ext>
            </a:extLst>
          </p:cNvPr>
          <p:cNvSpPr/>
          <p:nvPr/>
        </p:nvSpPr>
        <p:spPr>
          <a:xfrm>
            <a:off x="8663471" y="249622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69DAAE-5581-4493-96E9-9BC747D7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68BA21-48DC-4C0D-A1CD-97B2FA24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E06AD6-E7CE-458A-A468-E8BE19F9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8E1F7A-76BB-47E6-8515-9AF10920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2C451D-2EAD-4D77-8239-8DE77C5A3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17530A-4080-4E15-9E12-6C234D12C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4A45AD-63C7-4AED-AE43-BBD358665DE2}"/>
              </a:ext>
            </a:extLst>
          </p:cNvPr>
          <p:cNvSpPr/>
          <p:nvPr/>
        </p:nvSpPr>
        <p:spPr>
          <a:xfrm>
            <a:off x="5425022" y="601806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5F4794D-1A1E-46C4-95ED-E86F30AB1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628" y="1217159"/>
            <a:ext cx="1543353" cy="9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5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BFA24-F349-44DD-9AFD-CB3DE6FE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12152C-726C-4458-86E1-88349F9CF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Stash</a:t>
            </a:r>
            <a:r>
              <a:rPr lang="ko-KR" altLang="en-US" dirty="0"/>
              <a:t> 관련 옵션 조합 가능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stash –u --keep-index</a:t>
            </a:r>
          </a:p>
        </p:txBody>
      </p:sp>
    </p:spTree>
    <p:extLst>
      <p:ext uri="{BB962C8B-B14F-4D97-AF65-F5344CB8AC3E}">
        <p14:creationId xmlns:p14="http://schemas.microsoft.com/office/powerpoint/2010/main" val="1626572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C2971-173E-EDFB-95C7-586CFFEB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B62890-CF40-77DA-9865-3E8DB028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list</a:t>
            </a:r>
          </a:p>
          <a:p>
            <a:endParaRPr lang="en-US" altLang="ko-K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lvl="1"/>
            <a:r>
              <a:rPr lang="en-US" altLang="ko-K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stash@{0}: WIP on master: 409af3a a</a:t>
            </a:r>
          </a:p>
          <a:p>
            <a:pPr lvl="1"/>
            <a:r>
              <a:rPr lang="en-US" altLang="ko-K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stash@{1}: WIP on master: 409af3a a</a:t>
            </a:r>
          </a:p>
          <a:p>
            <a:pPr lvl="1"/>
            <a:endParaRPr lang="en-US" altLang="ko-K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Git stash show [ID]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2689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42A76-CF32-4F17-BD44-3A4A6458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2AEDF-6E1D-4CDB-BF71-01928AA1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[command] [</a:t>
            </a:r>
            <a:r>
              <a:rPr lang="en-US" altLang="ko-KR" dirty="0" err="1"/>
              <a:t>stash_ID</a:t>
            </a:r>
            <a:r>
              <a:rPr lang="en-US" altLang="ko-KR" dirty="0"/>
              <a:t>] [option]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불러오는</a:t>
            </a:r>
            <a:r>
              <a:rPr lang="en-US" altLang="ko-KR" dirty="0"/>
              <a:t> </a:t>
            </a:r>
            <a:r>
              <a:rPr lang="ko-KR" altLang="en-US" dirty="0"/>
              <a:t>작업은 </a:t>
            </a:r>
            <a:r>
              <a:rPr lang="en-US" altLang="ko-KR" dirty="0"/>
              <a:t>stash</a:t>
            </a:r>
            <a:r>
              <a:rPr lang="ko-KR" altLang="en-US" dirty="0"/>
              <a:t> 가 이루어진 </a:t>
            </a:r>
            <a:r>
              <a:rPr lang="en-US" altLang="ko-KR" dirty="0" err="1"/>
              <a:t>commitID</a:t>
            </a:r>
            <a:r>
              <a:rPr lang="en-US" altLang="ko-KR" dirty="0"/>
              <a:t> </a:t>
            </a:r>
            <a:r>
              <a:rPr lang="ko-KR" altLang="en-US" dirty="0"/>
              <a:t>가 아니더라도 가능함</a:t>
            </a:r>
            <a:endParaRPr lang="en-US" altLang="ko-KR" dirty="0"/>
          </a:p>
          <a:p>
            <a:pPr lvl="1"/>
            <a:r>
              <a:rPr lang="en-US" altLang="ko-KR" dirty="0"/>
              <a:t>Branch merge </a:t>
            </a:r>
            <a:r>
              <a:rPr lang="ko-KR" altLang="en-US" dirty="0"/>
              <a:t>와 비슷한 과정을 거치기 때문에 </a:t>
            </a:r>
            <a:r>
              <a:rPr lang="en-US" altLang="ko-KR" dirty="0"/>
              <a:t>conflict </a:t>
            </a:r>
            <a:r>
              <a:rPr lang="ko-KR" altLang="en-US" dirty="0"/>
              <a:t>이 날 수 있음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stash_ID</a:t>
            </a:r>
            <a:r>
              <a:rPr lang="en-US" altLang="ko-KR" dirty="0"/>
              <a:t>] </a:t>
            </a:r>
            <a:r>
              <a:rPr lang="ko-KR" altLang="en-US" dirty="0"/>
              <a:t>생략 시 마지막 </a:t>
            </a:r>
            <a:r>
              <a:rPr lang="en-US" altLang="ko-KR" dirty="0"/>
              <a:t>stash </a:t>
            </a:r>
            <a:r>
              <a:rPr lang="ko-KR" altLang="en-US" dirty="0"/>
              <a:t>로 설정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Command</a:t>
            </a:r>
          </a:p>
          <a:p>
            <a:pPr lvl="1"/>
            <a:r>
              <a:rPr lang="en-US" altLang="ko-KR" dirty="0"/>
              <a:t>Apply, pop</a:t>
            </a:r>
          </a:p>
          <a:p>
            <a:pPr lvl="1"/>
            <a:r>
              <a:rPr lang="en-US" altLang="ko-KR" dirty="0"/>
              <a:t>Option : --index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15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4AC89F-BDEA-4B9A-BF3A-040F3108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22DB042-3C42-4CF1-9969-9B52CF5E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apply</a:t>
            </a:r>
          </a:p>
          <a:p>
            <a:pPr lvl="1"/>
            <a:r>
              <a:rPr lang="en-US" altLang="ko-KR" dirty="0"/>
              <a:t>Stack</a:t>
            </a:r>
            <a:r>
              <a:rPr lang="ko-KR" altLang="en-US" dirty="0"/>
              <a:t> 맨 위 </a:t>
            </a:r>
            <a:r>
              <a:rPr lang="en-US" altLang="ko-KR" dirty="0"/>
              <a:t>stash </a:t>
            </a:r>
            <a:r>
              <a:rPr lang="ko-KR" altLang="en-US" dirty="0"/>
              <a:t>를 가져와서 적용 함 </a:t>
            </a:r>
            <a:r>
              <a:rPr lang="en-US" altLang="ko-KR" dirty="0"/>
              <a:t>(pop </a:t>
            </a:r>
            <a:r>
              <a:rPr lang="ko-KR" altLang="en-US" dirty="0"/>
              <a:t>하지 않음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Index </a:t>
            </a:r>
            <a:r>
              <a:rPr lang="ko-KR" altLang="en-US" dirty="0"/>
              <a:t>까지 복원은 안됨</a:t>
            </a:r>
            <a:endParaRPr lang="en-US" altLang="ko-KR" dirty="0"/>
          </a:p>
          <a:p>
            <a:pPr lvl="2"/>
            <a:r>
              <a:rPr lang="en-US" altLang="ko-KR" dirty="0"/>
              <a:t>--index </a:t>
            </a:r>
            <a:r>
              <a:rPr lang="ko-KR" altLang="en-US" dirty="0"/>
              <a:t>옵션을 붙이면 </a:t>
            </a:r>
            <a:r>
              <a:rPr lang="en-US" altLang="ko-KR" dirty="0"/>
              <a:t>index </a:t>
            </a:r>
            <a:r>
              <a:rPr lang="ko-KR" altLang="en-US" dirty="0"/>
              <a:t>까지 복원해 줌 </a:t>
            </a:r>
            <a:r>
              <a:rPr lang="en-US" altLang="ko-KR" dirty="0"/>
              <a:t>: git stash apply --index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CEE426-D86B-46FD-A83E-E883ADED6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003" y="4654550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3D9DCF-F21F-4AAD-B273-80A83E30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115" y="5396431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5707BF-ADA5-414B-B39B-6A2ED2EF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690" y="5396430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696ED9-BAA5-4B8F-849C-91D6DDF71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265" y="5396429"/>
            <a:ext cx="1551575" cy="101381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CE5B19-0317-4D05-B2D7-50F1F056B8D3}"/>
              </a:ext>
            </a:extLst>
          </p:cNvPr>
          <p:cNvSpPr/>
          <p:nvPr/>
        </p:nvSpPr>
        <p:spPr>
          <a:xfrm>
            <a:off x="259050" y="3759005"/>
            <a:ext cx="3433683" cy="1325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1AC47D8-C0A0-456C-8EC8-1A97267F594F}"/>
              </a:ext>
            </a:extLst>
          </p:cNvPr>
          <p:cNvSpPr/>
          <p:nvPr/>
        </p:nvSpPr>
        <p:spPr>
          <a:xfrm>
            <a:off x="259050" y="5240553"/>
            <a:ext cx="3433683" cy="1325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/>
              <a:t>Stash 1: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16EDAA-1BF8-4DEB-8141-971FE2955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24" y="3913135"/>
            <a:ext cx="1543353" cy="947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B002494-9995-4F0F-8D5F-E82085BF5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24" y="3913135"/>
            <a:ext cx="1543353" cy="9470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E5F397-99EC-4505-A7B0-56DA9A34C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800" y="5424482"/>
            <a:ext cx="1543353" cy="9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3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33333E-6 L 0.71172 0.222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86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7A48E-A3C6-441B-996D-0807F2E9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68331-831F-488D-ADCE-35A745290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pop</a:t>
            </a:r>
          </a:p>
          <a:p>
            <a:pPr lvl="1"/>
            <a:r>
              <a:rPr lang="en-US" altLang="ko-KR" dirty="0"/>
              <a:t>Stack</a:t>
            </a:r>
            <a:r>
              <a:rPr lang="ko-KR" altLang="en-US" dirty="0"/>
              <a:t> 맨 위 </a:t>
            </a:r>
            <a:r>
              <a:rPr lang="en-US" altLang="ko-KR" dirty="0"/>
              <a:t>stash </a:t>
            </a:r>
            <a:r>
              <a:rPr lang="ko-KR" altLang="en-US" dirty="0"/>
              <a:t>를 가져와서 적용하고 </a:t>
            </a:r>
            <a:r>
              <a:rPr lang="en-US" altLang="ko-KR" dirty="0"/>
              <a:t>Pop </a:t>
            </a:r>
            <a:r>
              <a:rPr lang="ko-KR" altLang="en-US" dirty="0"/>
              <a:t>시킴</a:t>
            </a:r>
            <a:endParaRPr lang="en-US" altLang="ko-KR" dirty="0"/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Index </a:t>
            </a:r>
            <a:r>
              <a:rPr lang="ko-KR" altLang="en-US" dirty="0"/>
              <a:t>까지 복원은 안됨</a:t>
            </a:r>
            <a:endParaRPr lang="en-US" altLang="ko-KR" dirty="0"/>
          </a:p>
          <a:p>
            <a:pPr lvl="2"/>
            <a:r>
              <a:rPr lang="en-US" altLang="ko-KR" dirty="0"/>
              <a:t>--index </a:t>
            </a:r>
            <a:r>
              <a:rPr lang="ko-KR" altLang="en-US" dirty="0"/>
              <a:t>옵션을 붙이면 </a:t>
            </a:r>
            <a:r>
              <a:rPr lang="en-US" altLang="ko-KR" dirty="0"/>
              <a:t>index </a:t>
            </a:r>
            <a:r>
              <a:rPr lang="ko-KR" altLang="en-US" dirty="0"/>
              <a:t>까지 복원해 줌 </a:t>
            </a:r>
            <a:r>
              <a:rPr lang="en-US" altLang="ko-KR" dirty="0"/>
              <a:t>: git stash apply --index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56961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7A48E-A3C6-441B-996D-0807F2E9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68331-831F-488D-ADCE-35A745290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drop [</a:t>
            </a:r>
            <a:r>
              <a:rPr lang="en-US" altLang="ko-KR" dirty="0" err="1"/>
              <a:t>stash_ID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 err="1"/>
              <a:t>stash_ID</a:t>
            </a:r>
            <a:r>
              <a:rPr lang="en-US" altLang="ko-KR" dirty="0"/>
              <a:t> </a:t>
            </a:r>
            <a:r>
              <a:rPr lang="ko-KR" altLang="en-US" dirty="0"/>
              <a:t>및 내용 삭제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21792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F0FF3-6A4A-4D0B-99FF-146EF3D1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여기서 잠깐</a:t>
            </a:r>
            <a:r>
              <a:rPr lang="en-US" altLang="ko-KR" dirty="0"/>
              <a:t>! : Conflict</a:t>
            </a:r>
            <a:r>
              <a:rPr lang="ko-KR" altLang="en-US" dirty="0"/>
              <a:t>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3DF664-DA63-46F4-BDF1-626A59FAE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3-way merge</a:t>
            </a:r>
          </a:p>
          <a:p>
            <a:endParaRPr lang="en-US" altLang="ko-KR" sz="4000" dirty="0"/>
          </a:p>
          <a:p>
            <a:pPr lvl="1"/>
            <a:r>
              <a:rPr lang="ko-KR" altLang="en-US" sz="3600" dirty="0"/>
              <a:t>둘 다 변화</a:t>
            </a:r>
            <a:endParaRPr lang="en-US" altLang="ko-KR" sz="3600" dirty="0"/>
          </a:p>
          <a:p>
            <a:pPr lvl="1"/>
            <a:r>
              <a:rPr lang="ko-KR" altLang="en-US" sz="3600" dirty="0"/>
              <a:t>하나 삭제</a:t>
            </a:r>
            <a:r>
              <a:rPr lang="en-US" altLang="ko-KR" sz="3600" dirty="0"/>
              <a:t>, </a:t>
            </a:r>
            <a:r>
              <a:rPr lang="ko-KR" altLang="en-US" sz="3600" dirty="0"/>
              <a:t>하나 변화 </a:t>
            </a:r>
            <a:r>
              <a:rPr lang="en-US" altLang="ko-KR" sz="3600" dirty="0"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sym typeface="Wingdings" panose="05000000000000000000" pitchFamily="2" charset="2"/>
              </a:rPr>
              <a:t>삭제도 변화에 일종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02521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clean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56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clean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clean</a:t>
            </a:r>
            <a:r>
              <a:rPr lang="ko-KR" altLang="en-US" dirty="0"/>
              <a:t> </a:t>
            </a:r>
            <a:r>
              <a:rPr lang="en-US" altLang="ko-KR" dirty="0"/>
              <a:t>[option]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Untracked</a:t>
            </a:r>
            <a:r>
              <a:rPr lang="ko-KR" altLang="en-US" dirty="0"/>
              <a:t> 상태의 파일을 삭제</a:t>
            </a:r>
            <a:endParaRPr lang="en-US" altLang="ko-KR" dirty="0"/>
          </a:p>
          <a:p>
            <a:pPr lvl="1"/>
            <a:r>
              <a:rPr lang="en-US" altLang="ko-KR" dirty="0"/>
              <a:t>Option</a:t>
            </a:r>
            <a:r>
              <a:rPr lang="ko-KR" altLang="en-US" dirty="0"/>
              <a:t> </a:t>
            </a:r>
            <a:r>
              <a:rPr lang="en-US" altLang="ko-KR" dirty="0"/>
              <a:t>: -d(</a:t>
            </a:r>
            <a:r>
              <a:rPr lang="ko-KR" altLang="en-US" dirty="0"/>
              <a:t>디렉토리 포함</a:t>
            </a:r>
            <a:r>
              <a:rPr lang="en-US" altLang="ko-KR" dirty="0"/>
              <a:t>), -n(</a:t>
            </a:r>
            <a:r>
              <a:rPr lang="ko-KR" altLang="en-US" dirty="0"/>
              <a:t>미리보기</a:t>
            </a:r>
            <a:r>
              <a:rPr lang="en-US" altLang="ko-KR" dirty="0"/>
              <a:t>), -f(</a:t>
            </a:r>
            <a:r>
              <a:rPr lang="ko-KR" altLang="en-US" dirty="0"/>
              <a:t>강제</a:t>
            </a:r>
            <a:r>
              <a:rPr lang="en-US" altLang="ko-KR" dirty="0"/>
              <a:t>), -</a:t>
            </a:r>
            <a:r>
              <a:rPr lang="en-US" altLang="ko-KR" dirty="0" err="1"/>
              <a:t>i</a:t>
            </a:r>
            <a:r>
              <a:rPr lang="en-US" altLang="ko-KR" dirty="0"/>
              <a:t>(</a:t>
            </a:r>
            <a:r>
              <a:rPr lang="ko-KR" altLang="en-US" dirty="0" err="1"/>
              <a:t>파일별</a:t>
            </a:r>
            <a:r>
              <a:rPr lang="ko-KR" altLang="en-US" dirty="0"/>
              <a:t> 확인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/>
              <a:t>파일에 포함된 파일은 무시됨</a:t>
            </a:r>
            <a:endParaRPr lang="en-US" altLang="ko-KR" dirty="0"/>
          </a:p>
          <a:p>
            <a:pPr lvl="2"/>
            <a:r>
              <a:rPr lang="en-US" altLang="ko-KR" dirty="0"/>
              <a:t>-x </a:t>
            </a:r>
            <a:r>
              <a:rPr lang="ko-KR" altLang="en-US" dirty="0"/>
              <a:t>옵션 사용 시 모두 지움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빌드 등을 통해 생성된 중간 파일을 삭제할 때 유용함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3972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70613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BABAAA-4C9F-4CA8-BBB5-2DB6784F5659}"/>
              </a:ext>
            </a:extLst>
          </p:cNvPr>
          <p:cNvSpPr/>
          <p:nvPr/>
        </p:nvSpPr>
        <p:spPr>
          <a:xfrm>
            <a:off x="985420" y="3429000"/>
            <a:ext cx="3701989" cy="2945167"/>
          </a:xfrm>
          <a:prstGeom prst="roundRect">
            <a:avLst>
              <a:gd name="adj" fmla="val 6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Local PC</a:t>
            </a:r>
            <a:endParaRPr lang="ko-KR" altLang="en-US" dirty="0"/>
          </a:p>
        </p:txBody>
      </p:sp>
      <p:sp>
        <p:nvSpPr>
          <p:cNvPr id="8" name="구름 7">
            <a:extLst>
              <a:ext uri="{FF2B5EF4-FFF2-40B4-BE49-F238E27FC236}">
                <a16:creationId xmlns:a16="http://schemas.microsoft.com/office/drawing/2014/main" id="{335809FC-9C37-4617-BAB9-8382C015FC54}"/>
              </a:ext>
            </a:extLst>
          </p:cNvPr>
          <p:cNvSpPr/>
          <p:nvPr/>
        </p:nvSpPr>
        <p:spPr>
          <a:xfrm>
            <a:off x="5930283" y="3355759"/>
            <a:ext cx="4323426" cy="3537751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Internet / Network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5312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인터넷</a:t>
            </a:r>
            <a:r>
              <a:rPr lang="en-US" altLang="ko-KR" dirty="0"/>
              <a:t>, </a:t>
            </a:r>
            <a:r>
              <a:rPr lang="ko-KR" altLang="en-US" dirty="0"/>
              <a:t>네트워크에 존재하는 </a:t>
            </a:r>
            <a:r>
              <a:rPr lang="en-US" altLang="ko-KR" dirty="0"/>
              <a:t>git repository</a:t>
            </a:r>
          </a:p>
          <a:p>
            <a:pPr lvl="1"/>
            <a:r>
              <a:rPr lang="ko-KR" altLang="en-US" dirty="0"/>
              <a:t>하지만</a:t>
            </a:r>
            <a:r>
              <a:rPr lang="en-US" altLang="ko-KR" dirty="0"/>
              <a:t> </a:t>
            </a:r>
            <a:r>
              <a:rPr lang="ko-KR" altLang="en-US" dirty="0"/>
              <a:t>로컬 시스템에도 위치할 수 있음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로컬 내 </a:t>
            </a:r>
            <a:r>
              <a:rPr lang="en-US" altLang="ko-KR" dirty="0"/>
              <a:t>repository </a:t>
            </a:r>
            <a:r>
              <a:rPr lang="ko-KR" altLang="en-US" dirty="0"/>
              <a:t>와 연동이 된다면 어디든 존재할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916749C-6386-4C67-9B0F-96014ECC6E6D}"/>
              </a:ext>
            </a:extLst>
          </p:cNvPr>
          <p:cNvSpPr/>
          <p:nvPr/>
        </p:nvSpPr>
        <p:spPr>
          <a:xfrm>
            <a:off x="1069019" y="3508583"/>
            <a:ext cx="1615736" cy="9854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6653217-616F-4589-BC0A-DAB4BF8378EA}"/>
              </a:ext>
            </a:extLst>
          </p:cNvPr>
          <p:cNvSpPr/>
          <p:nvPr/>
        </p:nvSpPr>
        <p:spPr>
          <a:xfrm>
            <a:off x="2974018" y="5295539"/>
            <a:ext cx="1615736" cy="9854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A808B38-7227-49C3-8C84-50D66C85E704}"/>
              </a:ext>
            </a:extLst>
          </p:cNvPr>
          <p:cNvSpPr/>
          <p:nvPr/>
        </p:nvSpPr>
        <p:spPr>
          <a:xfrm>
            <a:off x="7149482" y="3829828"/>
            <a:ext cx="1615736" cy="98542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6325587-7186-4EA3-B5E2-A97163B2571E}"/>
              </a:ext>
            </a:extLst>
          </p:cNvPr>
          <p:cNvSpPr/>
          <p:nvPr/>
        </p:nvSpPr>
        <p:spPr>
          <a:xfrm>
            <a:off x="7241958" y="5191541"/>
            <a:ext cx="1615736" cy="98542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E8EE36E-FBB1-4A93-B00A-8ADFE87947A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684755" y="4001294"/>
            <a:ext cx="4464727" cy="3212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FD1BED-5679-4548-BC43-EF0A5B64A51C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1876887" y="4494005"/>
            <a:ext cx="1097131" cy="12942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A8B86A-3A66-4194-AEAB-CFF304BBB83D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684755" y="4001294"/>
            <a:ext cx="4557203" cy="16829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AF0DC4-7B91-43BE-89EE-B89AF03E37BE}"/>
              </a:ext>
            </a:extLst>
          </p:cNvPr>
          <p:cNvSpPr txBox="1"/>
          <p:nvPr/>
        </p:nvSpPr>
        <p:spPr>
          <a:xfrm>
            <a:off x="9507245" y="4161916"/>
            <a:ext cx="2356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GitHub</a:t>
            </a:r>
          </a:p>
          <a:p>
            <a:r>
              <a:rPr lang="en-US" altLang="ko-KR" dirty="0"/>
              <a:t>GitLab</a:t>
            </a:r>
          </a:p>
          <a:p>
            <a:r>
              <a:rPr lang="en-US" altLang="ko-KR" dirty="0"/>
              <a:t>Private Git Server</a:t>
            </a:r>
          </a:p>
          <a:p>
            <a:r>
              <a:rPr lang="en-US" altLang="ko-KR" dirty="0"/>
              <a:t>Network Git Server</a:t>
            </a:r>
          </a:p>
          <a:p>
            <a:r>
              <a:rPr lang="en-US" altLang="ko-KR" dirty="0"/>
              <a:t>…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17302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B4E2255-17C8-467E-92D2-FBA625C4C13A}"/>
              </a:ext>
            </a:extLst>
          </p:cNvPr>
          <p:cNvSpPr/>
          <p:nvPr/>
        </p:nvSpPr>
        <p:spPr>
          <a:xfrm>
            <a:off x="506397" y="4665215"/>
            <a:ext cx="7333697" cy="1819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Local PC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B8683-DB3F-4329-86E2-906125AA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A35BA-C017-40A8-8336-2824D6B7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개인 프로젝트를 위한 </a:t>
            </a:r>
            <a:r>
              <a:rPr lang="en-US" altLang="ko-KR" dirty="0"/>
              <a:t>Git </a:t>
            </a:r>
            <a:r>
              <a:rPr lang="ko-KR" altLang="en-US" dirty="0"/>
              <a:t>활용 예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클라우드</a:t>
            </a:r>
            <a:r>
              <a:rPr lang="en-US" altLang="ko-KR" dirty="0"/>
              <a:t> </a:t>
            </a:r>
            <a:r>
              <a:rPr lang="ko-KR" altLang="en-US" dirty="0"/>
              <a:t>스토리지 </a:t>
            </a:r>
            <a:r>
              <a:rPr lang="en-US" altLang="ko-KR" dirty="0"/>
              <a:t>– PC </a:t>
            </a:r>
            <a:r>
              <a:rPr lang="ko-KR" altLang="en-US" dirty="0"/>
              <a:t>연동 폴더에 </a:t>
            </a:r>
            <a:r>
              <a:rPr lang="en-US" altLang="ko-KR" dirty="0"/>
              <a:t>Git </a:t>
            </a:r>
            <a:r>
              <a:rPr lang="ko-KR" altLang="en-US" dirty="0"/>
              <a:t>저장소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로컬 작업 폴더에서 위 </a:t>
            </a:r>
            <a:r>
              <a:rPr lang="en-US" altLang="ko-KR" dirty="0"/>
              <a:t>Git </a:t>
            </a:r>
            <a:r>
              <a:rPr lang="ko-KR" altLang="en-US" dirty="0"/>
              <a:t>저장소 </a:t>
            </a:r>
            <a:r>
              <a:rPr lang="en-US" altLang="ko-KR" dirty="0"/>
              <a:t>clone </a:t>
            </a:r>
            <a:r>
              <a:rPr lang="ko-KR" altLang="en-US" dirty="0"/>
              <a:t>후 사용</a:t>
            </a:r>
          </a:p>
        </p:txBody>
      </p:sp>
      <p:sp>
        <p:nvSpPr>
          <p:cNvPr id="4" name="구름 3">
            <a:extLst>
              <a:ext uri="{FF2B5EF4-FFF2-40B4-BE49-F238E27FC236}">
                <a16:creationId xmlns:a16="http://schemas.microsoft.com/office/drawing/2014/main" id="{64C9FAAD-775E-4D9D-A0A3-86C2D4701F77}"/>
              </a:ext>
            </a:extLst>
          </p:cNvPr>
          <p:cNvSpPr/>
          <p:nvPr/>
        </p:nvSpPr>
        <p:spPr>
          <a:xfrm>
            <a:off x="8211845" y="3861790"/>
            <a:ext cx="3719743" cy="2925188"/>
          </a:xfrm>
          <a:prstGeom prst="cloud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클라우드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355BB5-BCFD-4CAE-8E1F-AED25C6013C0}"/>
              </a:ext>
            </a:extLst>
          </p:cNvPr>
          <p:cNvSpPr/>
          <p:nvPr/>
        </p:nvSpPr>
        <p:spPr>
          <a:xfrm>
            <a:off x="5921036" y="5102116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연동 폴더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78852E4-4204-4C51-ADC8-FC19DE456FD4}"/>
              </a:ext>
            </a:extLst>
          </p:cNvPr>
          <p:cNvSpPr/>
          <p:nvPr/>
        </p:nvSpPr>
        <p:spPr>
          <a:xfrm>
            <a:off x="9232778" y="5102116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연동 폴더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EDE8D4F-8777-48AC-A0AA-158F4E2E26E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2182" y="5523805"/>
            <a:ext cx="15805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ECAD6C-9E35-4FA8-A322-49F6A8538E61}"/>
              </a:ext>
            </a:extLst>
          </p:cNvPr>
          <p:cNvSpPr/>
          <p:nvPr/>
        </p:nvSpPr>
        <p:spPr>
          <a:xfrm>
            <a:off x="1013164" y="5324384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작업 폴더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86CDB38-4C13-4A1A-BB6A-96606EF16E03}"/>
              </a:ext>
            </a:extLst>
          </p:cNvPr>
          <p:cNvCxnSpPr/>
          <p:nvPr/>
        </p:nvCxnSpPr>
        <p:spPr>
          <a:xfrm flipV="1">
            <a:off x="2841224" y="5304407"/>
            <a:ext cx="2965142" cy="219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73174D-36DB-42C8-A532-EF33A2BE77E4}"/>
              </a:ext>
            </a:extLst>
          </p:cNvPr>
          <p:cNvCxnSpPr/>
          <p:nvPr/>
        </p:nvCxnSpPr>
        <p:spPr>
          <a:xfrm flipH="1">
            <a:off x="2850102" y="5746073"/>
            <a:ext cx="2883022" cy="277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71562C-DFC9-4313-9B4D-9E6562764112}"/>
              </a:ext>
            </a:extLst>
          </p:cNvPr>
          <p:cNvSpPr txBox="1"/>
          <p:nvPr/>
        </p:nvSpPr>
        <p:spPr>
          <a:xfrm>
            <a:off x="3734170" y="5229440"/>
            <a:ext cx="97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73C21-D54F-410C-BB34-13C7C0DA062B}"/>
              </a:ext>
            </a:extLst>
          </p:cNvPr>
          <p:cNvSpPr txBox="1"/>
          <p:nvPr/>
        </p:nvSpPr>
        <p:spPr>
          <a:xfrm>
            <a:off x="3765243" y="5733709"/>
            <a:ext cx="97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pull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6172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D7483-08B4-4173-B682-E1A80103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2DB9D-E1C8-473D-AA2C-D3410CEE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로컬 서버 생성</a:t>
            </a:r>
            <a:endParaRPr lang="en-US" altLang="ko-KR" dirty="0"/>
          </a:p>
          <a:p>
            <a:pPr lvl="1"/>
            <a:r>
              <a:rPr lang="en-US" altLang="ko-KR" dirty="0" err="1"/>
              <a:t>Test.git</a:t>
            </a:r>
            <a:endParaRPr lang="en-US" altLang="ko-KR" dirty="0"/>
          </a:p>
          <a:p>
            <a:pPr lvl="1"/>
            <a:r>
              <a:rPr lang="ko-KR" altLang="en-US" dirty="0"/>
              <a:t>혹은 </a:t>
            </a:r>
            <a:r>
              <a:rPr lang="en-US" altLang="ko-KR" dirty="0"/>
              <a:t>--bare </a:t>
            </a:r>
            <a:r>
              <a:rPr lang="ko-KR" altLang="en-US" dirty="0"/>
              <a:t>옵션을 주어 </a:t>
            </a:r>
            <a:r>
              <a:rPr lang="en-US" altLang="ko-KR" dirty="0"/>
              <a:t>wd </a:t>
            </a:r>
            <a:r>
              <a:rPr lang="ko-KR" altLang="en-US" dirty="0"/>
              <a:t>가 없는 깃 </a:t>
            </a:r>
            <a:r>
              <a:rPr lang="en-US" altLang="ko-KR"/>
              <a:t>repository </a:t>
            </a:r>
            <a:r>
              <a:rPr lang="ko-KR" altLang="en-US"/>
              <a:t>생성</a:t>
            </a:r>
            <a:endParaRPr lang="en-US" altLang="ko-KR" dirty="0"/>
          </a:p>
          <a:p>
            <a:r>
              <a:rPr lang="ko-KR" altLang="en-US" dirty="0"/>
              <a:t>로컬</a:t>
            </a:r>
            <a:r>
              <a:rPr lang="en-US" altLang="ko-KR" dirty="0"/>
              <a:t> </a:t>
            </a:r>
            <a:r>
              <a:rPr lang="ko-KR" altLang="en-US" dirty="0"/>
              <a:t>작업 디렉토리 생성</a:t>
            </a:r>
            <a:endParaRPr lang="en-US" altLang="ko-KR" dirty="0"/>
          </a:p>
          <a:p>
            <a:pPr lvl="1"/>
            <a:r>
              <a:rPr lang="en-US" altLang="ko-KR" dirty="0" err="1"/>
              <a:t>TestWd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실습</a:t>
            </a:r>
            <a:endParaRPr lang="en-US" altLang="ko-KR" dirty="0"/>
          </a:p>
          <a:p>
            <a:pPr lvl="1"/>
            <a:r>
              <a:rPr lang="en-US" altLang="ko-KR" dirty="0"/>
              <a:t>Git clone &lt;remote&gt;</a:t>
            </a:r>
          </a:p>
          <a:p>
            <a:pPr lvl="1"/>
            <a:r>
              <a:rPr lang="en-US" altLang="ko-KR" dirty="0"/>
              <a:t>…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844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15756-6A5F-4DE3-BE65-6C29D318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252F5-6B77-4600-9BDF-F54FD503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remote</a:t>
            </a:r>
          </a:p>
          <a:p>
            <a:pPr lvl="1"/>
            <a:r>
              <a:rPr lang="ko-KR" altLang="en-US" dirty="0"/>
              <a:t>현재 프로젝트에 등록된 리모트 저장소 확인</a:t>
            </a:r>
            <a:endParaRPr lang="en-US" altLang="ko-KR" dirty="0"/>
          </a:p>
          <a:p>
            <a:pPr lvl="1"/>
            <a:r>
              <a:rPr lang="en-US" altLang="ko-KR" dirty="0"/>
              <a:t>Git remote –v : </a:t>
            </a:r>
            <a:r>
              <a:rPr lang="ko-KR" altLang="en-US" dirty="0"/>
              <a:t>이름과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함께 보기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remote add &lt;name&gt; &lt;</a:t>
            </a:r>
            <a:r>
              <a:rPr lang="en-US" altLang="ko-KR" dirty="0" err="1"/>
              <a:t>url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Name</a:t>
            </a:r>
            <a:r>
              <a:rPr lang="ko-KR" altLang="en-US" dirty="0"/>
              <a:t> 이라는 단축 이름으로 리모트 저장소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을 추가</a:t>
            </a:r>
            <a:endParaRPr lang="en-US" altLang="ko-KR" dirty="0"/>
          </a:p>
          <a:p>
            <a:pPr lvl="1"/>
            <a:r>
              <a:rPr lang="en-US" altLang="ko-KR" dirty="0"/>
              <a:t>Ex : git</a:t>
            </a:r>
            <a:r>
              <a:rPr lang="ko-KR" altLang="en-US" dirty="0"/>
              <a:t> </a:t>
            </a:r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add</a:t>
            </a:r>
            <a:r>
              <a:rPr lang="ko-KR" altLang="en-US" dirty="0"/>
              <a:t> </a:t>
            </a:r>
            <a:r>
              <a:rPr lang="en-US" altLang="ko-KR" dirty="0"/>
              <a:t>origin</a:t>
            </a:r>
            <a:r>
              <a:rPr lang="ko-KR" altLang="en-US" dirty="0"/>
              <a:t> </a:t>
            </a:r>
            <a:r>
              <a:rPr lang="en-US" altLang="ko-KR" dirty="0"/>
              <a:t>https://gitlab.com/watersp/gse2019.git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0108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4C4B2-AEB3-4298-88BD-EF350933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2AEB5-CB70-47E5-B61E-900E59196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remote show &lt;remote&gt;</a:t>
            </a:r>
          </a:p>
          <a:p>
            <a:endParaRPr lang="en-US" altLang="ko-KR" dirty="0"/>
          </a:p>
          <a:p>
            <a:r>
              <a:rPr lang="en-US" altLang="ko-KR" dirty="0"/>
              <a:t>Git remote rename &lt;</a:t>
            </a:r>
            <a:r>
              <a:rPr lang="en-US" altLang="ko-KR" dirty="0" err="1"/>
              <a:t>ori</a:t>
            </a:r>
            <a:r>
              <a:rPr lang="en-US" altLang="ko-KR" dirty="0"/>
              <a:t>&gt; &lt;tar&gt;</a:t>
            </a:r>
          </a:p>
          <a:p>
            <a:endParaRPr lang="en-US" altLang="ko-KR" dirty="0"/>
          </a:p>
          <a:p>
            <a:r>
              <a:rPr lang="en-US" altLang="ko-KR" dirty="0"/>
              <a:t>Git remote remove &lt;remote&gt;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1513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4693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857375"/>
            <a:ext cx="6742113" cy="17870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30" y="4476537"/>
            <a:ext cx="6493192" cy="225487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786434-4679-4315-9446-BE9296C38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77" y="3807650"/>
            <a:ext cx="7781925" cy="438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512" y="4754985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008" y="5915948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239" y="5464664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83D79-AC10-4096-A0B2-D646F9E69AFB}"/>
              </a:ext>
            </a:extLst>
          </p:cNvPr>
          <p:cNvSpPr txBox="1"/>
          <p:nvPr/>
        </p:nvSpPr>
        <p:spPr>
          <a:xfrm>
            <a:off x="9594842" y="6045993"/>
            <a:ext cx="187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origin/master </a:t>
            </a:r>
            <a:r>
              <a:rPr lang="ko-KR" altLang="en-US" dirty="0" err="1"/>
              <a:t>트래킹</a:t>
            </a:r>
            <a:r>
              <a:rPr lang="ko-KR" altLang="en-US" dirty="0"/>
              <a:t> 브랜치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78DD2C-6E95-4652-A27D-45A0EAE0A29F}"/>
              </a:ext>
            </a:extLst>
          </p:cNvPr>
          <p:cNvSpPr txBox="1"/>
          <p:nvPr/>
        </p:nvSpPr>
        <p:spPr>
          <a:xfrm>
            <a:off x="166687" y="1879136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D1DCB-3C6B-4DD7-BE00-72C6F08398B7}"/>
              </a:ext>
            </a:extLst>
          </p:cNvPr>
          <p:cNvSpPr txBox="1"/>
          <p:nvPr/>
        </p:nvSpPr>
        <p:spPr>
          <a:xfrm>
            <a:off x="5332730" y="4476537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27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609160"/>
            <a:ext cx="8519313" cy="22581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87" y="4178345"/>
            <a:ext cx="7351877" cy="25530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 (local </a:t>
            </a:r>
            <a:r>
              <a:rPr lang="ko-KR" altLang="en-US" dirty="0"/>
              <a:t>작업 </a:t>
            </a:r>
            <a:r>
              <a:rPr lang="ko-KR" altLang="en-US" dirty="0" err="1"/>
              <a:t>없을경우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113" y="4747203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609" y="5908166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5840" y="5456882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0232" y="4006894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1" y="5467346"/>
            <a:ext cx="3026083" cy="4201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3A5713-A8EE-42ED-AC2C-42FDFFA95033}"/>
              </a:ext>
            </a:extLst>
          </p:cNvPr>
          <p:cNvSpPr txBox="1"/>
          <p:nvPr/>
        </p:nvSpPr>
        <p:spPr>
          <a:xfrm>
            <a:off x="166687" y="1645625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21CF4-2822-4F2C-9232-EB55B934DC1A}"/>
              </a:ext>
            </a:extLst>
          </p:cNvPr>
          <p:cNvSpPr txBox="1"/>
          <p:nvPr/>
        </p:nvSpPr>
        <p:spPr>
          <a:xfrm>
            <a:off x="4724400" y="4207638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2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-0.0069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44444E-6 L 0.24779 0.0009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8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03" y="1563155"/>
            <a:ext cx="7686993" cy="20375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1" y="3652968"/>
            <a:ext cx="8864764" cy="320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branch(local</a:t>
            </a:r>
            <a:r>
              <a:rPr lang="ko-KR" altLang="en-US" dirty="0"/>
              <a:t> 작업 있을 경우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113" y="4130340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79" y="5235163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4840019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03" y="3793951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1" y="4850483"/>
            <a:ext cx="3026083" cy="42010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9D0F2CA-5046-4E8E-A1AA-0E145312C898}"/>
              </a:ext>
            </a:extLst>
          </p:cNvPr>
          <p:cNvSpPr/>
          <p:nvPr/>
        </p:nvSpPr>
        <p:spPr>
          <a:xfrm>
            <a:off x="1029377" y="6123211"/>
            <a:ext cx="8599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Local</a:t>
            </a:r>
            <a:r>
              <a:rPr lang="ko-KR" altLang="en-US" sz="2800" dirty="0">
                <a:solidFill>
                  <a:srgbClr val="FF0000"/>
                </a:solidFill>
              </a:rPr>
              <a:t> 과 </a:t>
            </a:r>
            <a:r>
              <a:rPr lang="en-US" altLang="ko-KR" sz="2800" dirty="0">
                <a:solidFill>
                  <a:srgbClr val="FF0000"/>
                </a:solidFill>
              </a:rPr>
              <a:t>Server </a:t>
            </a:r>
            <a:r>
              <a:rPr lang="ko-KR" altLang="en-US" sz="2800" dirty="0">
                <a:solidFill>
                  <a:srgbClr val="FF0000"/>
                </a:solidFill>
              </a:rPr>
              <a:t>의 </a:t>
            </a:r>
            <a:r>
              <a:rPr lang="en-US" altLang="ko-KR" sz="2800" dirty="0">
                <a:solidFill>
                  <a:srgbClr val="FF0000"/>
                </a:solidFill>
              </a:rPr>
              <a:t>Commit History</a:t>
            </a:r>
            <a:r>
              <a:rPr lang="ko-KR" altLang="en-US" sz="2800" dirty="0">
                <a:solidFill>
                  <a:srgbClr val="FF0000"/>
                </a:solidFill>
              </a:rPr>
              <a:t>는 서로 독립적임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D7CBA-F7E2-4901-B990-A6FB94FBDFFC}"/>
              </a:ext>
            </a:extLst>
          </p:cNvPr>
          <p:cNvSpPr txBox="1"/>
          <p:nvPr/>
        </p:nvSpPr>
        <p:spPr>
          <a:xfrm>
            <a:off x="501803" y="1576280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7C068-5051-45DF-8F61-3E8FBB435EE3}"/>
              </a:ext>
            </a:extLst>
          </p:cNvPr>
          <p:cNvSpPr txBox="1"/>
          <p:nvPr/>
        </p:nvSpPr>
        <p:spPr>
          <a:xfrm>
            <a:off x="3200401" y="3673738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5D3E75B-CE06-44C9-85A8-795C422D7FAA}"/>
              </a:ext>
            </a:extLst>
          </p:cNvPr>
          <p:cNvGrpSpPr/>
          <p:nvPr/>
        </p:nvGrpSpPr>
        <p:grpSpPr>
          <a:xfrm>
            <a:off x="7273290" y="5274028"/>
            <a:ext cx="3143449" cy="759447"/>
            <a:chOff x="7273290" y="5274028"/>
            <a:chExt cx="3143449" cy="7594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D352357-9D94-4B54-95B7-1BF918B6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73290" y="5274028"/>
              <a:ext cx="3143449" cy="75944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C6B44F-BAAC-4D18-B09F-89710BB823C0}"/>
                </a:ext>
              </a:extLst>
            </p:cNvPr>
            <p:cNvSpPr txBox="1"/>
            <p:nvPr/>
          </p:nvSpPr>
          <p:spPr>
            <a:xfrm>
              <a:off x="7889141" y="5664678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as13m2</a:t>
              </a:r>
              <a:endParaRPr lang="ko-KR" altLang="en-US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786ECA-66C4-496C-9F0B-040A65377C60}"/>
                </a:ext>
              </a:extLst>
            </p:cNvPr>
            <p:cNvSpPr txBox="1"/>
            <p:nvPr/>
          </p:nvSpPr>
          <p:spPr>
            <a:xfrm>
              <a:off x="9405862" y="5677594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855m2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756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7037E-7 L 0.25156 0.1240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0.24818 -0.005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D74C8-336E-419F-A608-4C1B6404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E2308-DBE6-4F2E-B821-48C100A2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Local</a:t>
            </a:r>
            <a:r>
              <a:rPr lang="ko-KR" altLang="en-US" dirty="0"/>
              <a:t> 과 </a:t>
            </a:r>
            <a:r>
              <a:rPr lang="en-US" altLang="ko-KR" dirty="0"/>
              <a:t>Server </a:t>
            </a:r>
            <a:r>
              <a:rPr lang="ko-KR" altLang="en-US" dirty="0"/>
              <a:t>의 </a:t>
            </a:r>
            <a:r>
              <a:rPr lang="en-US" altLang="ko-KR" dirty="0"/>
              <a:t>Commit History</a:t>
            </a:r>
            <a:r>
              <a:rPr lang="ko-KR" altLang="en-US" dirty="0"/>
              <a:t>는 서로 독립적임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783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03" y="1563155"/>
            <a:ext cx="7686993" cy="20375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1" y="3652968"/>
            <a:ext cx="8864764" cy="320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branch(local</a:t>
            </a:r>
            <a:r>
              <a:rPr lang="ko-KR" altLang="en-US" dirty="0"/>
              <a:t> 작업 있고</a:t>
            </a:r>
            <a:r>
              <a:rPr lang="en-US" altLang="ko-KR" dirty="0"/>
              <a:t> pull</a:t>
            </a:r>
            <a:r>
              <a:rPr lang="ko-KR" altLang="en-US" dirty="0"/>
              <a:t> 수행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113" y="4130340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79" y="5235163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4840019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03" y="3793951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1" y="4850483"/>
            <a:ext cx="3026083" cy="420107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6A2CCFA-5542-4C51-BAD1-C2D06B30C411}"/>
              </a:ext>
            </a:extLst>
          </p:cNvPr>
          <p:cNvGrpSpPr/>
          <p:nvPr/>
        </p:nvGrpSpPr>
        <p:grpSpPr>
          <a:xfrm>
            <a:off x="10416739" y="5060536"/>
            <a:ext cx="1447200" cy="994095"/>
            <a:chOff x="10416739" y="5060536"/>
            <a:chExt cx="1447200" cy="99409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40897DD-4FF2-4DF7-B733-382C075406D4}"/>
                </a:ext>
              </a:extLst>
            </p:cNvPr>
            <p:cNvSpPr/>
            <p:nvPr/>
          </p:nvSpPr>
          <p:spPr>
            <a:xfrm>
              <a:off x="10843661" y="5603809"/>
              <a:ext cx="1020278" cy="4508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93cfg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0E3B9D8-D1F7-4169-8411-06D889BCAF43}"/>
                </a:ext>
              </a:extLst>
            </p:cNvPr>
            <p:cNvCxnSpPr>
              <a:stCxn id="9" idx="1"/>
            </p:cNvCxnSpPr>
            <p:nvPr/>
          </p:nvCxnSpPr>
          <p:spPr>
            <a:xfrm flipH="1">
              <a:off x="10433785" y="5829220"/>
              <a:ext cx="409876" cy="133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A71FFD6B-936F-4A01-894A-F618D7A5B9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6739" y="5060536"/>
              <a:ext cx="430933" cy="781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FC6684BC-5DD7-43A0-99ED-69AFF5411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63" y="6041965"/>
            <a:ext cx="1195922" cy="7372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ED3BA3-570D-45FA-A7FC-2302D2AD85A6}"/>
              </a:ext>
            </a:extLst>
          </p:cNvPr>
          <p:cNvSpPr txBox="1"/>
          <p:nvPr/>
        </p:nvSpPr>
        <p:spPr>
          <a:xfrm>
            <a:off x="501803" y="1600076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A5F09-D2E5-41CE-98C8-72A0640CB82C}"/>
              </a:ext>
            </a:extLst>
          </p:cNvPr>
          <p:cNvSpPr txBox="1"/>
          <p:nvPr/>
        </p:nvSpPr>
        <p:spPr>
          <a:xfrm>
            <a:off x="3200401" y="3684621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E8D1AF-2239-454B-AC15-44544FC1C072}"/>
              </a:ext>
            </a:extLst>
          </p:cNvPr>
          <p:cNvGrpSpPr/>
          <p:nvPr/>
        </p:nvGrpSpPr>
        <p:grpSpPr>
          <a:xfrm>
            <a:off x="7273290" y="5274028"/>
            <a:ext cx="3143449" cy="759447"/>
            <a:chOff x="7273290" y="5274028"/>
            <a:chExt cx="3143449" cy="7594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D352357-9D94-4B54-95B7-1BF918B6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73290" y="5274028"/>
              <a:ext cx="3143449" cy="75944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5C749D-560A-427D-8DE8-F46F35E745F0}"/>
                </a:ext>
              </a:extLst>
            </p:cNvPr>
            <p:cNvSpPr txBox="1"/>
            <p:nvPr/>
          </p:nvSpPr>
          <p:spPr>
            <a:xfrm>
              <a:off x="7889141" y="5664678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as13m2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58B73B-3A36-40EE-AA55-5B066EC2B5E1}"/>
                </a:ext>
              </a:extLst>
            </p:cNvPr>
            <p:cNvSpPr txBox="1"/>
            <p:nvPr/>
          </p:nvSpPr>
          <p:spPr>
            <a:xfrm>
              <a:off x="9405862" y="5677594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855m2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665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7037E-7 L 0.25156 0.1240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0.24818 -0.005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12461 -0.0034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2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CA391-9BDD-4F44-BE49-C8EF1E0D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437B0-9A65-4DAD-A729-86D063E40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 </a:t>
            </a:r>
            <a:r>
              <a:rPr lang="en-US" altLang="ko-KR" dirty="0"/>
              <a:t>&lt;remote&gt;</a:t>
            </a:r>
          </a:p>
          <a:p>
            <a:pPr lvl="1"/>
            <a:r>
              <a:rPr lang="ko-KR" altLang="en-US" dirty="0" err="1"/>
              <a:t>리모트</a:t>
            </a:r>
            <a:r>
              <a:rPr lang="en-US" altLang="ko-KR" dirty="0"/>
              <a:t> </a:t>
            </a:r>
            <a:r>
              <a:rPr lang="ko-KR" altLang="en-US" dirty="0"/>
              <a:t>저장소에 있는 데이터를 모두 가져오는 명령어</a:t>
            </a:r>
            <a:endParaRPr lang="en-US" altLang="ko-KR" dirty="0"/>
          </a:p>
          <a:p>
            <a:pPr lvl="1"/>
            <a:r>
              <a:rPr lang="en-US" altLang="ko-KR" dirty="0"/>
              <a:t>Clone</a:t>
            </a:r>
            <a:r>
              <a:rPr lang="ko-KR" altLang="en-US" dirty="0"/>
              <a:t> 하면 자동으로 </a:t>
            </a:r>
            <a:r>
              <a:rPr lang="en-US" altLang="ko-KR" dirty="0"/>
              <a:t>origin </a:t>
            </a:r>
            <a:r>
              <a:rPr lang="ko-KR" altLang="en-US" dirty="0"/>
              <a:t>이라는 리모트 저장소 추가됨</a:t>
            </a:r>
            <a:endParaRPr lang="en-US" altLang="ko-KR" dirty="0"/>
          </a:p>
          <a:p>
            <a:pPr lvl="1"/>
            <a:r>
              <a:rPr lang="en-US" altLang="ko-KR" dirty="0"/>
              <a:t>Git pull</a:t>
            </a:r>
            <a:r>
              <a:rPr lang="ko-KR" altLang="en-US" dirty="0"/>
              <a:t>의 동작 과정</a:t>
            </a:r>
            <a:endParaRPr lang="en-US" altLang="ko-KR" dirty="0"/>
          </a:p>
          <a:p>
            <a:pPr lvl="2"/>
            <a:r>
              <a:rPr lang="en-US" altLang="ko-KR" dirty="0"/>
              <a:t>Git fetch &lt;remote/branch&gt;;</a:t>
            </a:r>
          </a:p>
          <a:p>
            <a:pPr lvl="2"/>
            <a:r>
              <a:rPr lang="en-US" altLang="ko-KR" dirty="0"/>
              <a:t>Git merge remote/branch; //pull</a:t>
            </a:r>
            <a:r>
              <a:rPr lang="ko-KR" altLang="en-US" dirty="0"/>
              <a:t> 시 자동으로 추적 </a:t>
            </a:r>
            <a:r>
              <a:rPr lang="en-US" altLang="ko-KR" dirty="0"/>
              <a:t>branch</a:t>
            </a:r>
            <a:r>
              <a:rPr lang="ko-KR" altLang="en-US" dirty="0"/>
              <a:t>에 </a:t>
            </a:r>
            <a:r>
              <a:rPr lang="en-US" altLang="ko-KR" dirty="0"/>
              <a:t>merge</a:t>
            </a:r>
            <a:r>
              <a:rPr lang="ko-KR" altLang="en-US" dirty="0"/>
              <a:t>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push</a:t>
            </a:r>
            <a:r>
              <a:rPr lang="ko-KR" altLang="en-US" dirty="0"/>
              <a:t> </a:t>
            </a:r>
            <a:r>
              <a:rPr lang="en-US" altLang="ko-KR" dirty="0"/>
              <a:t>&lt;remote&gt; &lt;branch&gt;</a:t>
            </a:r>
          </a:p>
          <a:p>
            <a:pPr lvl="1"/>
            <a:r>
              <a:rPr lang="ko-KR" altLang="en-US" dirty="0"/>
              <a:t>로컬</a:t>
            </a:r>
            <a:r>
              <a:rPr lang="en-US" altLang="ko-KR" dirty="0"/>
              <a:t> </a:t>
            </a:r>
            <a:r>
              <a:rPr lang="ko-KR" altLang="en-US" dirty="0"/>
              <a:t>작업 내용을 </a:t>
            </a:r>
            <a:r>
              <a:rPr lang="ko-KR" altLang="en-US" dirty="0" err="1"/>
              <a:t>리모트</a:t>
            </a:r>
            <a:r>
              <a:rPr lang="ko-KR" altLang="en-US" dirty="0"/>
              <a:t> 저장소에 반영하는 명령어</a:t>
            </a:r>
            <a:endParaRPr lang="en-US" altLang="ko-KR" dirty="0"/>
          </a:p>
          <a:p>
            <a:pPr lvl="1"/>
            <a:r>
              <a:rPr lang="ko-KR" altLang="en-US" dirty="0" err="1"/>
              <a:t>리모트</a:t>
            </a:r>
            <a:r>
              <a:rPr lang="ko-KR" altLang="en-US" dirty="0"/>
              <a:t> 저장소에 변경이 있었다면 </a:t>
            </a:r>
            <a:r>
              <a:rPr lang="en-US" altLang="ko-KR" dirty="0"/>
              <a:t>push </a:t>
            </a:r>
            <a:r>
              <a:rPr lang="ko-KR" altLang="en-US" dirty="0"/>
              <a:t>불가</a:t>
            </a:r>
          </a:p>
        </p:txBody>
      </p:sp>
    </p:spTree>
    <p:extLst>
      <p:ext uri="{BB962C8B-B14F-4D97-AF65-F5344CB8AC3E}">
        <p14:creationId xmlns:p14="http://schemas.microsoft.com/office/powerpoint/2010/main" val="18443146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CD03B-CB9A-4A6A-A3B8-494993F5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94F83-D9F9-4BFF-98D8-48C5EF2B4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Fetch</a:t>
            </a:r>
            <a:r>
              <a:rPr lang="ko-KR" altLang="en-US" dirty="0"/>
              <a:t>는 하나 </a:t>
            </a:r>
            <a:r>
              <a:rPr lang="en-US" altLang="ko-KR" dirty="0"/>
              <a:t>Merge</a:t>
            </a:r>
            <a:r>
              <a:rPr lang="ko-KR" altLang="en-US" dirty="0"/>
              <a:t> 하고 싶지 않다면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로컬 내용을 유지하면서 서버 내용을 </a:t>
            </a:r>
            <a:r>
              <a:rPr lang="ko-KR" altLang="en-US" dirty="0" err="1"/>
              <a:t>트래킹</a:t>
            </a:r>
            <a:r>
              <a:rPr lang="ko-KR" altLang="en-US" dirty="0"/>
              <a:t> 하는 새로운 브랜치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Git checkout –b &lt;</a:t>
            </a:r>
            <a:r>
              <a:rPr lang="en-US" altLang="ko-KR" dirty="0" err="1"/>
              <a:t>branchName</a:t>
            </a:r>
            <a:r>
              <a:rPr lang="en-US" altLang="ko-KR" dirty="0"/>
              <a:t>&gt; &lt;remote/branch&gt;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좀더 정밀하게 로컬 내용과 서버 내용을 체크 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88078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6DD3B-3D01-41C2-AA3B-8D2AE8BA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A77EA-1361-4A94-960C-F91E1FED1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</a:t>
            </a:r>
            <a:r>
              <a:rPr lang="en-US" altLang="ko-KR" dirty="0"/>
              <a:t> </a:t>
            </a:r>
            <a:r>
              <a:rPr lang="ko-KR" altLang="en-US" dirty="0"/>
              <a:t>존재하는 로컬 </a:t>
            </a:r>
            <a:r>
              <a:rPr lang="ko-KR" altLang="en-US" dirty="0" err="1"/>
              <a:t>브랜치를</a:t>
            </a:r>
            <a:r>
              <a:rPr lang="ko-KR" altLang="en-US" dirty="0"/>
              <a:t> 특정 리모트 </a:t>
            </a:r>
            <a:r>
              <a:rPr lang="ko-KR" altLang="en-US" dirty="0" err="1"/>
              <a:t>브랜치를</a:t>
            </a:r>
            <a:r>
              <a:rPr lang="ko-KR" altLang="en-US" dirty="0"/>
              <a:t> </a:t>
            </a:r>
            <a:r>
              <a:rPr lang="ko-KR" altLang="en-US" err="1"/>
              <a:t>트래킹하게</a:t>
            </a:r>
            <a:r>
              <a:rPr lang="ko-KR" altLang="en-US"/>
              <a:t> 하려면</a:t>
            </a:r>
            <a:r>
              <a:rPr lang="en-US" altLang="ko-KR"/>
              <a:t>?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branch –u &lt;remote/branch&gt;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-u : --set-upstream-to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4667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24B27-CDDE-4DFE-8137-F76ED11F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B002D-88F2-47CE-B092-619D78EDF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트래킹</a:t>
            </a:r>
            <a:r>
              <a:rPr lang="en-US" altLang="ko-KR" dirty="0"/>
              <a:t> </a:t>
            </a:r>
            <a:r>
              <a:rPr lang="ko-KR" altLang="en-US" dirty="0"/>
              <a:t>브랜치 확인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마지막</a:t>
            </a:r>
            <a:r>
              <a:rPr lang="en-US" altLang="ko-KR" dirty="0"/>
              <a:t> fetch </a:t>
            </a:r>
            <a:r>
              <a:rPr lang="ko-KR" altLang="en-US" dirty="0"/>
              <a:t>된 내용을 기반으로 표시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remote branch </a:t>
            </a:r>
            <a:r>
              <a:rPr lang="ko-KR" altLang="en-US" dirty="0"/>
              <a:t>내용이 아닐 수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Git branch –r : </a:t>
            </a:r>
            <a:r>
              <a:rPr lang="ko-KR" altLang="en-US" dirty="0"/>
              <a:t>리모트 브랜치 리스트 확인</a:t>
            </a:r>
            <a:endParaRPr lang="en-US" altLang="ko-KR" dirty="0"/>
          </a:p>
          <a:p>
            <a:pPr lvl="1"/>
            <a:r>
              <a:rPr lang="en-US" altLang="ko-KR" dirty="0"/>
              <a:t>Git branch –a : </a:t>
            </a:r>
            <a:r>
              <a:rPr lang="ko-KR" altLang="en-US" dirty="0"/>
              <a:t>모든 브랜치 리스트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82297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51400-CD09-4BC1-B3B2-9C912A4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65136-FF15-4771-9B16-0FC06B65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push –u</a:t>
            </a:r>
            <a:r>
              <a:rPr lang="ko-KR" altLang="en-US" dirty="0"/>
              <a:t> </a:t>
            </a:r>
            <a:r>
              <a:rPr lang="en-US" altLang="ko-KR" dirty="0"/>
              <a:t>origin name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origin</a:t>
            </a:r>
            <a:r>
              <a:rPr lang="ko-KR" altLang="en-US" dirty="0"/>
              <a:t>에 </a:t>
            </a:r>
            <a:r>
              <a:rPr lang="en-US" altLang="ko-KR" dirty="0"/>
              <a:t>name</a:t>
            </a:r>
            <a:r>
              <a:rPr lang="ko-KR" altLang="en-US" dirty="0"/>
              <a:t> 이라는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리모트</a:t>
            </a:r>
            <a:r>
              <a:rPr lang="ko-KR" altLang="en-US" dirty="0"/>
              <a:t> 저장소에</a:t>
            </a:r>
            <a:r>
              <a:rPr lang="en-US" altLang="ko-KR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생성 후 현재 속한 </a:t>
            </a:r>
            <a:r>
              <a:rPr lang="en-US" altLang="ko-KR" dirty="0"/>
              <a:t>branch</a:t>
            </a:r>
            <a:r>
              <a:rPr lang="ko-KR" altLang="en-US" dirty="0"/>
              <a:t>가 </a:t>
            </a:r>
            <a:r>
              <a:rPr lang="en-US" altLang="ko-KR" dirty="0"/>
              <a:t>tracking 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93811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51400-CD09-4BC1-B3B2-9C912A4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65136-FF15-4771-9B16-0FC06B65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push origin –delete &lt;</a:t>
            </a:r>
            <a:r>
              <a:rPr lang="en-US" altLang="ko-KR" dirty="0" err="1"/>
              <a:t>branchName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리모트 브랜치 삭제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서버에 있는 해당 </a:t>
            </a:r>
            <a:r>
              <a:rPr lang="ko-KR" altLang="en-US" dirty="0" err="1"/>
              <a:t>브랜치를</a:t>
            </a:r>
            <a:r>
              <a:rPr lang="ko-KR" altLang="en-US" dirty="0"/>
              <a:t> 삭제함</a:t>
            </a:r>
            <a:endParaRPr lang="en-US" altLang="ko-KR" dirty="0"/>
          </a:p>
          <a:p>
            <a:pPr lvl="2"/>
            <a:r>
              <a:rPr lang="ko-KR" altLang="en-US" dirty="0"/>
              <a:t>즉 </a:t>
            </a:r>
            <a:r>
              <a:rPr lang="ko-KR" altLang="en-US" dirty="0" err="1"/>
              <a:t>커밋을</a:t>
            </a:r>
            <a:r>
              <a:rPr lang="ko-KR" altLang="en-US" dirty="0"/>
              <a:t> 가리키는 포인터 하나가 삭제되는 수준</a:t>
            </a:r>
            <a:endParaRPr lang="en-US" altLang="ko-KR" dirty="0"/>
          </a:p>
          <a:p>
            <a:pPr lvl="2"/>
            <a:r>
              <a:rPr lang="ko-KR" altLang="en-US" dirty="0"/>
              <a:t>서버의 </a:t>
            </a:r>
            <a:r>
              <a:rPr lang="ko-KR" altLang="en-US" dirty="0" err="1"/>
              <a:t>가비지</a:t>
            </a:r>
            <a:r>
              <a:rPr lang="ko-KR" altLang="en-US" dirty="0"/>
              <a:t> </a:t>
            </a:r>
            <a:r>
              <a:rPr lang="ko-KR" altLang="en-US" dirty="0" err="1"/>
              <a:t>컬렉터</a:t>
            </a:r>
            <a:r>
              <a:rPr lang="ko-KR" altLang="en-US" dirty="0"/>
              <a:t> 정책에 따라 관련 </a:t>
            </a:r>
            <a:r>
              <a:rPr lang="ko-KR" altLang="en-US" dirty="0" err="1"/>
              <a:t>커밋이</a:t>
            </a:r>
            <a:r>
              <a:rPr lang="ko-KR" altLang="en-US" dirty="0"/>
              <a:t> 삭제 될 수 있음</a:t>
            </a:r>
          </a:p>
        </p:txBody>
      </p:sp>
    </p:spTree>
    <p:extLst>
      <p:ext uri="{BB962C8B-B14F-4D97-AF65-F5344CB8AC3E}">
        <p14:creationId xmlns:p14="http://schemas.microsoft.com/office/powerpoint/2010/main" val="27706040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EAD768-718D-47B5-B427-096FCE1A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9EA319-7D4F-4374-B947-21A0E9D1D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1989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D3EB03-3FEF-43F6-8906-51C770C4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B1ECCD-2123-42E8-9D14-9722CA074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Long-Running </a:t>
            </a:r>
            <a:r>
              <a:rPr lang="ko-KR" altLang="en-US" dirty="0"/>
              <a:t>브랜치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3-way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 의 강점을 활용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안정된 버전만 </a:t>
            </a:r>
            <a:r>
              <a:rPr lang="en-US" altLang="ko-KR" dirty="0"/>
              <a:t>master </a:t>
            </a:r>
            <a:r>
              <a:rPr lang="ko-KR" altLang="en-US" dirty="0" err="1"/>
              <a:t>브랜치에</a:t>
            </a:r>
            <a:r>
              <a:rPr lang="ko-KR" altLang="en-US" dirty="0"/>
              <a:t> 둠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master </a:t>
            </a:r>
            <a:r>
              <a:rPr lang="ko-KR" altLang="en-US" dirty="0" err="1"/>
              <a:t>브랜치는</a:t>
            </a:r>
            <a:r>
              <a:rPr lang="ko-KR" altLang="en-US" dirty="0"/>
              <a:t> 배포를 위한 브랜치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개발 진행을 위한 </a:t>
            </a:r>
            <a:r>
              <a:rPr lang="ko-KR" altLang="en-US" dirty="0" err="1"/>
              <a:t>브랜치는</a:t>
            </a:r>
            <a:r>
              <a:rPr lang="ko-KR" altLang="en-US" dirty="0"/>
              <a:t> 안정된 </a:t>
            </a:r>
            <a:r>
              <a:rPr lang="en-US" altLang="ko-KR" dirty="0"/>
              <a:t>master </a:t>
            </a:r>
            <a:r>
              <a:rPr lang="ko-KR" altLang="en-US" dirty="0" err="1"/>
              <a:t>브랜치의</a:t>
            </a:r>
            <a:r>
              <a:rPr lang="ko-KR" altLang="en-US" dirty="0"/>
              <a:t> </a:t>
            </a:r>
            <a:r>
              <a:rPr lang="en-US" altLang="ko-KR" dirty="0"/>
              <a:t>commit id</a:t>
            </a:r>
            <a:r>
              <a:rPr lang="ko-KR" altLang="en-US" dirty="0"/>
              <a:t>를 기준으로 브랜치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가급적 </a:t>
            </a:r>
            <a:r>
              <a:rPr lang="en-US" altLang="ko-KR" dirty="0"/>
              <a:t>Fast-forward merge </a:t>
            </a:r>
            <a:r>
              <a:rPr lang="ko-KR" altLang="en-US" dirty="0"/>
              <a:t>만 일어나게 하는 것</a:t>
            </a:r>
          </a:p>
        </p:txBody>
      </p:sp>
    </p:spTree>
    <p:extLst>
      <p:ext uri="{BB962C8B-B14F-4D97-AF65-F5344CB8AC3E}">
        <p14:creationId xmlns:p14="http://schemas.microsoft.com/office/powerpoint/2010/main" val="42173248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FA14983-38F6-4BA1-BF96-D426F34B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2C239-A86E-4B87-898F-1CE3D2E0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16064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431EA-18F2-4F8D-9817-24815AB71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30" y="3797782"/>
            <a:ext cx="7753739" cy="273906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FC169E-D5F5-4E3E-9AB4-FEA639B6C0C3}"/>
              </a:ext>
            </a:extLst>
          </p:cNvPr>
          <p:cNvSpPr/>
          <p:nvPr/>
        </p:nvSpPr>
        <p:spPr>
          <a:xfrm>
            <a:off x="365898" y="5887194"/>
            <a:ext cx="3706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Long-Running </a:t>
            </a:r>
            <a:r>
              <a:rPr lang="ko-KR" altLang="en-US" sz="2800" dirty="0"/>
              <a:t>브랜치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6251918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E6239-025B-4C6E-8100-8B4F747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F2CC2-69A3-4C37-9F50-017A159AA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Topic</a:t>
            </a:r>
            <a:r>
              <a:rPr lang="ko-KR" altLang="en-US" dirty="0"/>
              <a:t> 브랜치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짧은 호흡의 브랜치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좁은 범위의 테스트</a:t>
            </a:r>
            <a:r>
              <a:rPr lang="en-US" altLang="ko-KR" dirty="0"/>
              <a:t>, </a:t>
            </a:r>
            <a:r>
              <a:rPr lang="ko-KR" altLang="en-US" dirty="0"/>
              <a:t>혹은 기능 추가가 필요할 경우 활용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32900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7777343-DEAD-4DA2-BA2A-E91EFF38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840B7A-D10C-4659-A24C-ADC4F28F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29234"/>
            <a:ext cx="6258133" cy="49287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7DD969-0B29-4C02-BAFB-39C59C30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854" y="1919018"/>
            <a:ext cx="5129146" cy="4933874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ADC6849-772F-4B98-AFDA-AF2A26E91E7D}"/>
              </a:ext>
            </a:extLst>
          </p:cNvPr>
          <p:cNvSpPr/>
          <p:nvPr/>
        </p:nvSpPr>
        <p:spPr>
          <a:xfrm>
            <a:off x="6114653" y="4413687"/>
            <a:ext cx="1091681" cy="1325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0FDFEE-892F-4BD9-99EA-85F6EE14EF26}"/>
              </a:ext>
            </a:extLst>
          </p:cNvPr>
          <p:cNvSpPr/>
          <p:nvPr/>
        </p:nvSpPr>
        <p:spPr>
          <a:xfrm>
            <a:off x="4202050" y="6308209"/>
            <a:ext cx="2230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Topic</a:t>
            </a:r>
            <a:r>
              <a:rPr lang="ko-KR" altLang="en-US" sz="2800" dirty="0"/>
              <a:t> 브랜치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5297298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63955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F9BDD1-0262-4EC7-B7B5-0F962BAE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146C0A-FC28-46BF-930D-0F83F068E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Rebase</a:t>
            </a:r>
          </a:p>
          <a:p>
            <a:pPr lvl="1"/>
            <a:r>
              <a:rPr lang="en-US" altLang="ko-KR" dirty="0">
                <a:hlinkClick r:id="rId2"/>
              </a:rPr>
              <a:t>https://git-scm.com/book/ko/v2/Git-%EB%B8%8C%EB%9E%9C%EC%B9%98-Rebase-%ED%95%98%EA%B8%B0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히스토리</a:t>
            </a:r>
            <a:r>
              <a:rPr lang="en-US" altLang="ko-KR" dirty="0"/>
              <a:t> </a:t>
            </a:r>
            <a:r>
              <a:rPr lang="ko-KR" altLang="en-US" dirty="0"/>
              <a:t>단장하기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https://git-scm.com/book/ko/v2/Git-%EB%8F%84%EA%B5%AC-%ED%9E%88%EC%8A%A4%ED%86%A0%EB%A6%AC-%EB%8B%A8%EC%9E%A5%ED%95%98%EA%B8%B0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1654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9F30E-55C6-4F47-B54C-74E133FF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FFDA1C-B6F9-4A2B-AB0D-45B287166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분산 환경에서 관리하기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https://git-scm.com/book/ko/v2/%EB%B6%84%EC%82%B0-%ED%99%98%EA%B2%BD%EC%97%90%EC%84%9C%EC%9D%98-Git-%EB%B6%84%EC%82%B0-%ED%99%98%EA%B2%BD%EC%97%90%EC%84%9C%EC%9D%98-%EC%9B%8C%ED%81%AC%ED%94%8C%EB%A1%9C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https://git-scm.com/book/ko/v2/%EB%B6%84%EC%82%B0-%ED%99%98%EA%B2%BD%EC%97%90%EC%84%9C%EC%9D%98-Git-%ED%94%84%EB%A1%9C%EC%A0%9D%ED%8A%B8%EC%97%90-%EA%B8%B0%EC%97%AC%ED%95%98%EA%B8%B0</a:t>
            </a:r>
            <a:endParaRPr lang="en-US" altLang="ko-KR" dirty="0">
              <a:hlinkClick r:id="" action="ppaction://noaction"/>
            </a:endParaRPr>
          </a:p>
          <a:p>
            <a:pPr lvl="1"/>
            <a:r>
              <a:rPr lang="en-US" altLang="ko-KR" dirty="0">
                <a:hlinkClick r:id="" action="ppaction://noaction"/>
              </a:rPr>
              <a:t>https://git-scm.com/book/ko/v2/%EB%B6%84%EC%82%B0-%ED%99%98%EA%B2%BD%EC%97%90%EC%84%9C%EC%9D%98-Git-%ED%94%84%EB%A1%9C%EC%A0%9D%ED%8A%B8-%EA%B4%80%EB%A6%AC%ED%95%98%EA%B8%B0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06129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5080503-2C31-4DE6-AE55-7B4CAAA6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5E41050-1123-4786-939C-4CFD90AE6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5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2232</Words>
  <Application>Microsoft Office PowerPoint</Application>
  <PresentationFormat>와이드스크린</PresentationFormat>
  <Paragraphs>474</Paragraphs>
  <Slides>82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87" baseType="lpstr">
      <vt:lpstr>맑은 고딕</vt:lpstr>
      <vt:lpstr>Arial</vt:lpstr>
      <vt:lpstr>Lucida Console</vt:lpstr>
      <vt:lpstr>Wingdings</vt:lpstr>
      <vt:lpstr>Office 테마</vt:lpstr>
      <vt:lpstr>Git  Version Control System 3</vt:lpstr>
      <vt:lpstr>목차</vt:lpstr>
      <vt:lpstr>브랜치 병합</vt:lpstr>
      <vt:lpstr>브랜치 병합</vt:lpstr>
      <vt:lpstr>브랜치 삭제</vt:lpstr>
      <vt:lpstr>브랜치 삭제</vt:lpstr>
      <vt:lpstr>브랜치 삭제</vt:lpstr>
      <vt:lpstr>브랜치 관리</vt:lpstr>
      <vt:lpstr>브랜치 관리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Git Reset (--soft)</vt:lpstr>
      <vt:lpstr>Git Reset (--mixed)</vt:lpstr>
      <vt:lpstr>Git Reset (--hard)</vt:lpstr>
      <vt:lpstr>Git Reset 응용</vt:lpstr>
      <vt:lpstr>목차</vt:lpstr>
      <vt:lpstr>Git checkout</vt:lpstr>
      <vt:lpstr>Git checkout</vt:lpstr>
      <vt:lpstr>Git checkout</vt:lpstr>
      <vt:lpstr>Git checkout</vt:lpstr>
      <vt:lpstr>Git checkout</vt:lpstr>
      <vt:lpstr>Git checkout</vt:lpstr>
      <vt:lpstr>Git checkout</vt:lpstr>
      <vt:lpstr>Git checkout : 복잡한 예제</vt:lpstr>
      <vt:lpstr>File level 버전 추출</vt:lpstr>
      <vt:lpstr>File level 버전 추출</vt:lpstr>
      <vt:lpstr>특정 버전으로 가기 정리</vt:lpstr>
      <vt:lpstr>특정 버전으로 가기 정리</vt:lpstr>
      <vt:lpstr>목차</vt:lpstr>
      <vt:lpstr>Git stash</vt:lpstr>
      <vt:lpstr>Git stash 하기</vt:lpstr>
      <vt:lpstr>Git stash 하기</vt:lpstr>
      <vt:lpstr>Git stash 하기</vt:lpstr>
      <vt:lpstr>Git stash 하기</vt:lpstr>
      <vt:lpstr>Git stash 하기</vt:lpstr>
      <vt:lpstr>Git stash 확인</vt:lpstr>
      <vt:lpstr>Git stash 불러오기</vt:lpstr>
      <vt:lpstr>Git stash 불러오기</vt:lpstr>
      <vt:lpstr>Git stash 불러오기</vt:lpstr>
      <vt:lpstr>Git stash 불러오기</vt:lpstr>
      <vt:lpstr>여기서 잠깐! : Conflict 정리</vt:lpstr>
      <vt:lpstr>Git clean</vt:lpstr>
      <vt:lpstr>Git clean</vt:lpstr>
      <vt:lpstr>Git remote repository</vt:lpstr>
      <vt:lpstr>Git remote repository</vt:lpstr>
      <vt:lpstr>Git remote repository</vt:lpstr>
      <vt:lpstr>사전작업</vt:lpstr>
      <vt:lpstr>Git remote repository</vt:lpstr>
      <vt:lpstr>Git remote repository</vt:lpstr>
      <vt:lpstr>Remote branch</vt:lpstr>
      <vt:lpstr>Remote branch</vt:lpstr>
      <vt:lpstr>Remote branch (local 작업 없을경우)</vt:lpstr>
      <vt:lpstr>Remote branch(local 작업 있을 경우)</vt:lpstr>
      <vt:lpstr>Remote branch</vt:lpstr>
      <vt:lpstr>Remote branch(local 작업 있고 pull 수행)</vt:lpstr>
      <vt:lpstr>Remote branch</vt:lpstr>
      <vt:lpstr>Remote branch</vt:lpstr>
      <vt:lpstr>Remote branch</vt:lpstr>
      <vt:lpstr>Remote branch</vt:lpstr>
      <vt:lpstr>Remote branch</vt:lpstr>
      <vt:lpstr>Remote branch</vt:lpstr>
      <vt:lpstr>브랜치 워크플로</vt:lpstr>
      <vt:lpstr>브랜치 워크플로</vt:lpstr>
      <vt:lpstr>브랜치 워크플로</vt:lpstr>
      <vt:lpstr>브랜치 워크플로</vt:lpstr>
      <vt:lpstr>브랜치 워크플로</vt:lpstr>
      <vt:lpstr>추가로 공부해야 할 사항들</vt:lpstr>
      <vt:lpstr>추가로 공부해야 할 사항들</vt:lpstr>
      <vt:lpstr>추가로 공부해야 할 사항들</vt:lpstr>
      <vt:lpstr>수고하셨습니다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 Version Control System 0</dc:title>
  <dc:creator>이택희</dc:creator>
  <cp:lastModifiedBy>이택희(A0344)</cp:lastModifiedBy>
  <cp:revision>60</cp:revision>
  <dcterms:created xsi:type="dcterms:W3CDTF">2019-10-07T09:08:30Z</dcterms:created>
  <dcterms:modified xsi:type="dcterms:W3CDTF">2025-10-29T04:45:52Z</dcterms:modified>
</cp:coreProperties>
</file>
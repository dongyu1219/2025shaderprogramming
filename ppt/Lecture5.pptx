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1"/>
  </p:notesMasterIdLst>
  <p:sldIdLst>
    <p:sldId id="256" r:id="rId2"/>
    <p:sldId id="486" r:id="rId3"/>
    <p:sldId id="349" r:id="rId4"/>
    <p:sldId id="353" r:id="rId5"/>
    <p:sldId id="509" r:id="rId6"/>
    <p:sldId id="510" r:id="rId7"/>
    <p:sldId id="399" r:id="rId8"/>
    <p:sldId id="512" r:id="rId9"/>
    <p:sldId id="400" r:id="rId10"/>
    <p:sldId id="511" r:id="rId11"/>
    <p:sldId id="513" r:id="rId12"/>
    <p:sldId id="394" r:id="rId13"/>
    <p:sldId id="514" r:id="rId14"/>
    <p:sldId id="501" r:id="rId15"/>
    <p:sldId id="503" r:id="rId16"/>
    <p:sldId id="505" r:id="rId17"/>
    <p:sldId id="504" r:id="rId18"/>
    <p:sldId id="507" r:id="rId19"/>
    <p:sldId id="515" r:id="rId20"/>
    <p:sldId id="524" r:id="rId21"/>
    <p:sldId id="525" r:id="rId22"/>
    <p:sldId id="516" r:id="rId23"/>
    <p:sldId id="518" r:id="rId24"/>
    <p:sldId id="526" r:id="rId25"/>
    <p:sldId id="527" r:id="rId26"/>
    <p:sldId id="528" r:id="rId27"/>
    <p:sldId id="529" r:id="rId28"/>
    <p:sldId id="530" r:id="rId29"/>
    <p:sldId id="52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3" autoAdjust="0"/>
    <p:restoredTop sz="94660"/>
  </p:normalViewPr>
  <p:slideViewPr>
    <p:cSldViewPr>
      <p:cViewPr varScale="1">
        <p:scale>
          <a:sx n="111" d="100"/>
          <a:sy n="111" d="100"/>
        </p:scale>
        <p:origin x="282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34835-998C-48F3-922B-834DDD525EE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2D599-627B-48A2-BB2C-C81EC15F9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03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0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6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71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6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3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70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48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83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9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63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3335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611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38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21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8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79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3794" y="643467"/>
            <a:ext cx="9600217" cy="3585834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 err="1"/>
              <a:t>셰이더</a:t>
            </a:r>
            <a:r>
              <a:rPr lang="ko-KR" altLang="en-US" sz="7200" dirty="0"/>
              <a:t> 프로그래밍</a:t>
            </a:r>
            <a:br>
              <a:rPr lang="en-US" altLang="ko-KR" sz="7200" dirty="0"/>
            </a:br>
            <a:r>
              <a:rPr lang="en-US" altLang="ko-KR" sz="7200" dirty="0"/>
              <a:t>Lecture5</a:t>
            </a:r>
            <a:endParaRPr lang="ko-KR" altLang="en-US" sz="7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13794" y="4872767"/>
            <a:ext cx="9600217" cy="1424165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/>
              <a:t>2025</a:t>
            </a:r>
            <a:r>
              <a:rPr lang="ko-KR" altLang="en-US" sz="3200"/>
              <a:t>년 </a:t>
            </a:r>
            <a:r>
              <a:rPr lang="en-US" altLang="ko-KR" sz="3200"/>
              <a:t>2</a:t>
            </a:r>
            <a:r>
              <a:rPr lang="ko-KR" altLang="en-US" sz="3200"/>
              <a:t>학기</a:t>
            </a:r>
            <a:endParaRPr lang="en-US" altLang="ko-KR" sz="3200"/>
          </a:p>
          <a:p>
            <a:pPr algn="l"/>
            <a:r>
              <a:rPr lang="ko-KR" altLang="en-US" sz="3200"/>
              <a:t>담당교수 </a:t>
            </a:r>
            <a:r>
              <a:rPr lang="en-US" altLang="ko-KR" sz="3200"/>
              <a:t>: </a:t>
            </a:r>
            <a:r>
              <a:rPr lang="ko-KR" altLang="en-US" sz="3200"/>
              <a:t>게임공학과 이택희</a:t>
            </a:r>
          </a:p>
        </p:txBody>
      </p:sp>
    </p:spTree>
    <p:extLst>
      <p:ext uri="{BB962C8B-B14F-4D97-AF65-F5344CB8AC3E}">
        <p14:creationId xmlns:p14="http://schemas.microsoft.com/office/powerpoint/2010/main" val="353691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 err="1"/>
              <a:t>Framebuffer</a:t>
            </a:r>
            <a:r>
              <a:rPr lang="en-US" altLang="ko-KR" dirty="0"/>
              <a:t> (</a:t>
            </a:r>
            <a:r>
              <a:rPr lang="ko-KR" altLang="en-US" dirty="0"/>
              <a:t>프레임 버퍼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2150724" y="3068960"/>
            <a:ext cx="8033202" cy="1224136"/>
            <a:chOff x="626724" y="3068960"/>
            <a:chExt cx="8033202" cy="1224136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626724" y="3068960"/>
              <a:ext cx="1410821" cy="122413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Vertex </a:t>
              </a:r>
              <a:r>
                <a:rPr lang="en-US" altLang="ko-KR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Shader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2204292" y="3068960"/>
              <a:ext cx="1410821" cy="1224136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Primitive Assembly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3774107" y="3068960"/>
              <a:ext cx="1753365" cy="1224136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Rasterization</a:t>
              </a:r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and Interpolation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5695327" y="3068960"/>
              <a:ext cx="1402176" cy="122413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Fragment </a:t>
              </a:r>
              <a:r>
                <a:rPr lang="en-US" altLang="ko-KR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Shader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7257750" y="3068960"/>
              <a:ext cx="1402176" cy="122413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Frame Buffer</a:t>
              </a:r>
              <a:endPara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오른쪽 화살표 9"/>
            <p:cNvSpPr/>
            <p:nvPr/>
          </p:nvSpPr>
          <p:spPr>
            <a:xfrm>
              <a:off x="2056595" y="3429000"/>
              <a:ext cx="148508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오른쪽 화살표 10"/>
            <p:cNvSpPr/>
            <p:nvPr/>
          </p:nvSpPr>
          <p:spPr>
            <a:xfrm>
              <a:off x="3626274" y="3429000"/>
              <a:ext cx="148508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오른쪽 화살표 11"/>
            <p:cNvSpPr/>
            <p:nvPr/>
          </p:nvSpPr>
          <p:spPr>
            <a:xfrm>
              <a:off x="5546522" y="3429000"/>
              <a:ext cx="148508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오른쪽 화살표 12"/>
            <p:cNvSpPr/>
            <p:nvPr/>
          </p:nvSpPr>
          <p:spPr>
            <a:xfrm>
              <a:off x="7107027" y="3429000"/>
              <a:ext cx="148508" cy="50405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0168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Framebuffer</a:t>
            </a:r>
            <a:endParaRPr lang="en-US" altLang="ko-KR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891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Framebuffer</a:t>
            </a:r>
            <a:endParaRPr lang="ko-KR" altLang="en-US" dirty="0"/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화면에 나타낼 그림의 정보가 저장되어 있는 메모리 영역</a:t>
            </a:r>
            <a:endParaRPr lang="en-US" altLang="ko-KR" dirty="0"/>
          </a:p>
          <a:p>
            <a:r>
              <a:rPr lang="ko-KR" altLang="en-US" dirty="0"/>
              <a:t>보통 </a:t>
            </a:r>
            <a:r>
              <a:rPr lang="en-US" altLang="ko-KR" dirty="0"/>
              <a:t>GPU </a:t>
            </a:r>
            <a:r>
              <a:rPr lang="ko-KR" altLang="en-US" dirty="0"/>
              <a:t>메모리에 할당되어 있음</a:t>
            </a:r>
            <a:endParaRPr lang="en-US" altLang="ko-KR" dirty="0"/>
          </a:p>
          <a:p>
            <a:r>
              <a:rPr lang="en-US" altLang="ko-KR" dirty="0"/>
              <a:t>Windows OS </a:t>
            </a:r>
            <a:r>
              <a:rPr lang="ko-KR" altLang="en-US" dirty="0"/>
              <a:t>의 경우 각 윈도우마다 </a:t>
            </a:r>
            <a:r>
              <a:rPr lang="en-US" altLang="ko-KR" dirty="0" err="1"/>
              <a:t>Framebuffer</a:t>
            </a:r>
            <a:r>
              <a:rPr lang="en-US" altLang="ko-KR" dirty="0"/>
              <a:t> </a:t>
            </a:r>
            <a:r>
              <a:rPr lang="ko-KR" altLang="en-US" dirty="0"/>
              <a:t>가 할당 되며 다른 </a:t>
            </a:r>
            <a:r>
              <a:rPr lang="en-US" altLang="ko-KR" dirty="0"/>
              <a:t>OS</a:t>
            </a:r>
            <a:r>
              <a:rPr lang="ko-KR" altLang="en-US" dirty="0"/>
              <a:t>의 경우도 대동소이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9271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Framebuffer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화면모드</a:t>
            </a:r>
            <a:endParaRPr lang="en-US" altLang="ko-KR" dirty="0"/>
          </a:p>
          <a:p>
            <a:pPr lvl="1"/>
            <a:r>
              <a:rPr lang="ko-KR" altLang="en-US" dirty="0"/>
              <a:t>윈도우 모드</a:t>
            </a:r>
            <a:endParaRPr lang="en-US" altLang="ko-KR" dirty="0"/>
          </a:p>
          <a:p>
            <a:pPr lvl="2"/>
            <a:r>
              <a:rPr lang="ko-KR" altLang="en-US" dirty="0"/>
              <a:t>윈도우 모드일 경우 다른 윈도우 및 바탕화면 등의 프레임버퍼와 합성이 된 후 최종 결과 출력</a:t>
            </a:r>
            <a:endParaRPr lang="en-US" altLang="ko-KR" dirty="0"/>
          </a:p>
          <a:p>
            <a:pPr lvl="1"/>
            <a:r>
              <a:rPr lang="ko-KR" altLang="en-US" dirty="0"/>
              <a:t>전체 모드</a:t>
            </a:r>
            <a:endParaRPr lang="en-US" altLang="ko-KR" dirty="0"/>
          </a:p>
          <a:p>
            <a:pPr lvl="2"/>
            <a:r>
              <a:rPr lang="ko-KR" altLang="en-US" dirty="0"/>
              <a:t>전체 모드일 경우 해당 어플리케이션의 프레임버퍼만 전체 화면에 표시 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7153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Framebuffer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1772816"/>
            <a:ext cx="8448938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2692574" y="1772816"/>
            <a:ext cx="7656850" cy="4119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428259" y="3224014"/>
            <a:ext cx="3925416" cy="2643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919536" y="4086598"/>
            <a:ext cx="4386014" cy="2217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919536" y="6353176"/>
            <a:ext cx="8429888" cy="172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929061" y="1772817"/>
            <a:ext cx="8429888" cy="45803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9536" y="1196753"/>
            <a:ext cx="8429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/>
              <a:t>윈도우 화면에서의 프레임버퍼들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5</a:t>
            </a:r>
            <a:r>
              <a:rPr lang="ko-KR" altLang="en-US" dirty="0"/>
              <a:t>개의 프레임버퍼들이 합성되어 최종 프레임버퍼에 그려진 후 </a:t>
            </a:r>
            <a:r>
              <a:rPr lang="en-US" altLang="ko-KR" dirty="0"/>
              <a:t>Display </a:t>
            </a:r>
            <a:r>
              <a:rPr lang="ko-KR" altLang="en-US" dirty="0"/>
              <a:t>됨</a:t>
            </a:r>
          </a:p>
        </p:txBody>
      </p:sp>
    </p:spTree>
    <p:extLst>
      <p:ext uri="{BB962C8B-B14F-4D97-AF65-F5344CB8AC3E}">
        <p14:creationId xmlns:p14="http://schemas.microsoft.com/office/powerpoint/2010/main" val="10838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Framebuffer</a:t>
            </a: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1524000" y="1619307"/>
            <a:ext cx="480858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윈도우가 가지고 있는 프레임버퍼에 </a:t>
            </a:r>
            <a:r>
              <a:rPr lang="en-US" altLang="ko-KR" sz="1600" dirty="0"/>
              <a:t>OpenGL</a:t>
            </a:r>
            <a:r>
              <a:rPr lang="ko-KR" altLang="en-US" sz="1600" dirty="0"/>
              <a:t>이 그림을 그릴 수 있게 하는 작업은 복잡함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glut </a:t>
            </a:r>
            <a:r>
              <a:rPr lang="ko-KR" altLang="en-US" sz="1600" dirty="0"/>
              <a:t>에선 복잡한 과정을 아래 함수로 간략화 하여 사용할 수 있는 기능을 제공함 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sz="1600" dirty="0" err="1"/>
              <a:t>glutInitDisplayMode</a:t>
            </a:r>
            <a:r>
              <a:rPr lang="en-US" altLang="ko-KR" sz="1600" dirty="0"/>
              <a:t>(GLUT_DOUBLE|GLUT_RGBA);</a:t>
            </a:r>
          </a:p>
          <a:p>
            <a:r>
              <a:rPr lang="en-US" altLang="ko-KR" sz="1600" dirty="0" err="1"/>
              <a:t>glutInitWindowSize</a:t>
            </a:r>
            <a:r>
              <a:rPr lang="en-US" altLang="ko-KR" sz="1600" dirty="0"/>
              <a:t>(1024, 1024);</a:t>
            </a:r>
          </a:p>
          <a:p>
            <a:r>
              <a:rPr lang="en-US" altLang="ko-KR" sz="1600" dirty="0" err="1"/>
              <a:t>glutCreateWindow</a:t>
            </a:r>
            <a:r>
              <a:rPr lang="en-US" altLang="ko-KR" sz="1600" dirty="0"/>
              <a:t>("Tutorial");</a:t>
            </a:r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채널 당 </a:t>
            </a:r>
            <a:r>
              <a:rPr lang="en-US" altLang="ko-KR" sz="1600" dirty="0"/>
              <a:t>RGBA </a:t>
            </a:r>
            <a:r>
              <a:rPr lang="ko-KR" altLang="en-US" sz="1600" dirty="0"/>
              <a:t>값을 가지는 </a:t>
            </a:r>
            <a:r>
              <a:rPr lang="en-US" altLang="ko-KR" sz="1600" dirty="0"/>
              <a:t>1024X1024 </a:t>
            </a:r>
            <a:r>
              <a:rPr lang="ko-KR" altLang="en-US" sz="1600" dirty="0"/>
              <a:t>크기의 윈도우를 생성하고</a:t>
            </a:r>
            <a:r>
              <a:rPr lang="en-US" altLang="ko-KR" sz="1600" dirty="0"/>
              <a:t> </a:t>
            </a:r>
            <a:r>
              <a:rPr lang="ko-KR" altLang="en-US" sz="1600" dirty="0"/>
              <a:t>윈도우의 </a:t>
            </a:r>
            <a:r>
              <a:rPr lang="en-US" altLang="ko-KR" sz="1600" dirty="0" err="1"/>
              <a:t>Framebuffer</a:t>
            </a:r>
            <a:r>
              <a:rPr lang="en-US" altLang="ko-KR" sz="1600" dirty="0"/>
              <a:t> </a:t>
            </a:r>
            <a:r>
              <a:rPr lang="ko-KR" altLang="en-US" sz="1600" dirty="0"/>
              <a:t>를</a:t>
            </a:r>
            <a:r>
              <a:rPr lang="en-US" altLang="ko-KR" sz="1600" dirty="0"/>
              <a:t> OpenGL </a:t>
            </a:r>
            <a:r>
              <a:rPr lang="ko-KR" altLang="en-US" sz="1600" dirty="0" err="1"/>
              <a:t>렌더링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타겟으로</a:t>
            </a:r>
            <a:r>
              <a:rPr lang="ko-KR" altLang="en-US" sz="1600" dirty="0"/>
              <a:t> 설정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Double buffering </a:t>
            </a:r>
            <a:r>
              <a:rPr lang="ko-KR" altLang="en-US" sz="1600" dirty="0"/>
              <a:t>이기 때문에 두 개의 </a:t>
            </a:r>
            <a:r>
              <a:rPr lang="en-US" altLang="ko-KR" sz="1600" dirty="0" err="1"/>
              <a:t>Framebuffer</a:t>
            </a:r>
            <a:r>
              <a:rPr lang="en-US" altLang="ko-KR" sz="1600" dirty="0"/>
              <a:t> </a:t>
            </a:r>
            <a:r>
              <a:rPr lang="ko-KR" altLang="en-US" sz="1600" dirty="0"/>
              <a:t>들이 만들어 짐</a:t>
            </a:r>
            <a:endParaRPr lang="en-US" altLang="ko-KR" sz="1600" dirty="0"/>
          </a:p>
          <a:p>
            <a:endParaRPr lang="en-US" altLang="ko-KR" sz="1600" dirty="0"/>
          </a:p>
        </p:txBody>
      </p:sp>
      <p:sp>
        <p:nvSpPr>
          <p:cNvPr id="11" name="직사각형 10"/>
          <p:cNvSpPr/>
          <p:nvPr/>
        </p:nvSpPr>
        <p:spPr>
          <a:xfrm>
            <a:off x="6550862" y="1835043"/>
            <a:ext cx="3528392" cy="3600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7970429" y="5587843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1024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10079255" y="3594593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1024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6550862" y="2123075"/>
            <a:ext cx="3528392" cy="33123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6550863" y="1835043"/>
            <a:ext cx="176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Tutorial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6332580" y="2319530"/>
            <a:ext cx="3528392" cy="33123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889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프레임버퍼 오브젝트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906076" y="2151440"/>
            <a:ext cx="2376264" cy="2069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Front Buffer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Back Buffer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752818" y="1782108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1024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282341" y="3244334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1024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290452" y="2151440"/>
            <a:ext cx="2376264" cy="2069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 Buffer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Front Buffer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7132977" y="1782108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1024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666717" y="3244334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1024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991544" y="1412776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Double buffering </a:t>
            </a:r>
            <a:r>
              <a:rPr lang="ko-KR" altLang="en-US" dirty="0"/>
              <a:t>원리</a:t>
            </a:r>
            <a:endParaRPr lang="en-US" altLang="ko-KR" dirty="0"/>
          </a:p>
        </p:txBody>
      </p:sp>
      <p:grpSp>
        <p:nvGrpSpPr>
          <p:cNvPr id="15" name="그룹 14"/>
          <p:cNvGrpSpPr/>
          <p:nvPr/>
        </p:nvGrpSpPr>
        <p:grpSpPr>
          <a:xfrm>
            <a:off x="3174918" y="4703321"/>
            <a:ext cx="1728192" cy="1695926"/>
            <a:chOff x="5631424" y="5125834"/>
            <a:chExt cx="1728192" cy="1695926"/>
          </a:xfrm>
        </p:grpSpPr>
        <p:sp>
          <p:nvSpPr>
            <p:cNvPr id="21" name="직사각형 20"/>
            <p:cNvSpPr/>
            <p:nvPr/>
          </p:nvSpPr>
          <p:spPr>
            <a:xfrm>
              <a:off x="6387508" y="6182980"/>
              <a:ext cx="216024" cy="3193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998679" y="6502370"/>
              <a:ext cx="993682" cy="3193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5631424" y="5125834"/>
              <a:ext cx="1728192" cy="122413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Display</a:t>
              </a:r>
              <a:endParaRPr lang="ko-KR" altLang="en-US" dirty="0"/>
            </a:p>
          </p:txBody>
        </p:sp>
      </p:grpSp>
      <p:grpSp>
        <p:nvGrpSpPr>
          <p:cNvPr id="11" name="그룹 10"/>
          <p:cNvGrpSpPr/>
          <p:nvPr/>
        </p:nvGrpSpPr>
        <p:grpSpPr>
          <a:xfrm rot="1405189">
            <a:off x="3427129" y="2938846"/>
            <a:ext cx="1342588" cy="610979"/>
            <a:chOff x="3525154" y="4473286"/>
            <a:chExt cx="1342588" cy="610979"/>
          </a:xfrm>
        </p:grpSpPr>
        <p:sp>
          <p:nvSpPr>
            <p:cNvPr id="25" name="오른쪽으로 구부러진 화살표 24"/>
            <p:cNvSpPr/>
            <p:nvPr/>
          </p:nvSpPr>
          <p:spPr>
            <a:xfrm rot="3577718">
              <a:off x="3913231" y="4085209"/>
              <a:ext cx="303966" cy="1080120"/>
            </a:xfrm>
            <a:prstGeom prst="curved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오른쪽으로 구부러진 화살표 25"/>
            <p:cNvSpPr/>
            <p:nvPr/>
          </p:nvSpPr>
          <p:spPr>
            <a:xfrm rot="14631883">
              <a:off x="4175699" y="4392222"/>
              <a:ext cx="303966" cy="1080120"/>
            </a:xfrm>
            <a:prstGeom prst="curved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 rot="20167868">
              <a:off x="3590178" y="4553145"/>
              <a:ext cx="12688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en-US" altLang="ko-KR" dirty="0"/>
                <a:t>Swap!</a:t>
              </a:r>
              <a:endParaRPr lang="ko-KR" altLang="en-US" dirty="0"/>
            </a:p>
          </p:txBody>
        </p:sp>
      </p:grpSp>
      <p:grpSp>
        <p:nvGrpSpPr>
          <p:cNvPr id="28" name="그룹 27"/>
          <p:cNvGrpSpPr/>
          <p:nvPr/>
        </p:nvGrpSpPr>
        <p:grpSpPr>
          <a:xfrm rot="1405189">
            <a:off x="6807289" y="2875209"/>
            <a:ext cx="1342588" cy="610979"/>
            <a:chOff x="3525154" y="4473286"/>
            <a:chExt cx="1342588" cy="610979"/>
          </a:xfrm>
        </p:grpSpPr>
        <p:sp>
          <p:nvSpPr>
            <p:cNvPr id="29" name="오른쪽으로 구부러진 화살표 28"/>
            <p:cNvSpPr/>
            <p:nvPr/>
          </p:nvSpPr>
          <p:spPr>
            <a:xfrm rot="3577718">
              <a:off x="3913231" y="4085209"/>
              <a:ext cx="303966" cy="1080120"/>
            </a:xfrm>
            <a:prstGeom prst="curved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오른쪽으로 구부러진 화살표 29"/>
            <p:cNvSpPr/>
            <p:nvPr/>
          </p:nvSpPr>
          <p:spPr>
            <a:xfrm rot="14631883">
              <a:off x="4175699" y="4392222"/>
              <a:ext cx="303966" cy="1080120"/>
            </a:xfrm>
            <a:prstGeom prst="curved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 rot="20167868">
              <a:off x="3590178" y="4553145"/>
              <a:ext cx="12688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0"/>
              <a:r>
                <a:rPr lang="en-US" altLang="ko-KR" dirty="0"/>
                <a:t>Swap!</a:t>
              </a:r>
              <a:endParaRPr lang="ko-KR" altLang="en-US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816007" y="5035927"/>
            <a:ext cx="3189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Display </a:t>
            </a:r>
            <a:r>
              <a:rPr lang="ko-KR" altLang="en-US" dirty="0"/>
              <a:t>는 </a:t>
            </a:r>
            <a:r>
              <a:rPr lang="en-US" altLang="ko-KR" dirty="0"/>
              <a:t>Front Buffer </a:t>
            </a:r>
            <a:r>
              <a:rPr lang="ko-KR" altLang="en-US" dirty="0"/>
              <a:t>에 저장된 그림을 일정한 주기로 화면에 나타냄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744031" y="4243829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glutSwapBuffers</a:t>
            </a:r>
            <a:r>
              <a:rPr lang="en-US" altLang="ko-KR" dirty="0"/>
              <a:t>();</a:t>
            </a:r>
            <a:endParaRPr lang="ko-KR" altLang="en-US" dirty="0"/>
          </a:p>
        </p:txBody>
      </p:sp>
      <p:cxnSp>
        <p:nvCxnSpPr>
          <p:cNvPr id="32" name="직선 화살표 연결선 31"/>
          <p:cNvCxnSpPr>
            <a:stCxn id="18" idx="0"/>
          </p:cNvCxnSpPr>
          <p:nvPr/>
        </p:nvCxnSpPr>
        <p:spPr>
          <a:xfrm flipH="1" flipV="1">
            <a:off x="4593499" y="3429001"/>
            <a:ext cx="1179018" cy="81482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8" idx="0"/>
            <a:endCxn id="31" idx="1"/>
          </p:cNvCxnSpPr>
          <p:nvPr/>
        </p:nvCxnSpPr>
        <p:spPr>
          <a:xfrm flipV="1">
            <a:off x="5772517" y="3159267"/>
            <a:ext cx="1113778" cy="10845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525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Framebuffer</a:t>
            </a:r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2063552" y="1916832"/>
            <a:ext cx="4122712" cy="396044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063552" y="2472668"/>
            <a:ext cx="41227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#version 330</a:t>
            </a:r>
          </a:p>
          <a:p>
            <a:endParaRPr lang="ko-KR" altLang="en-US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in vec2 </a:t>
            </a:r>
            <a:r>
              <a:rPr lang="en-US" altLang="ko-KR" sz="1200" dirty="0" err="1">
                <a:solidFill>
                  <a:schemeClr val="bg1"/>
                </a:solidFill>
              </a:rPr>
              <a:t>vTexPos</a:t>
            </a:r>
            <a:r>
              <a:rPr lang="en-US" altLang="ko-KR" sz="120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layout(location=0) out vec4 </a:t>
            </a:r>
            <a:r>
              <a:rPr lang="en-US" altLang="ko-KR" sz="1200" dirty="0" err="1">
                <a:solidFill>
                  <a:schemeClr val="bg1"/>
                </a:solidFill>
              </a:rPr>
              <a:t>FragColor</a:t>
            </a:r>
            <a:r>
              <a:rPr lang="en-US" altLang="ko-KR" sz="120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void main()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{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</a:t>
            </a:r>
            <a:r>
              <a:rPr lang="en-US" altLang="ko-KR" sz="1200" dirty="0" err="1">
                <a:solidFill>
                  <a:schemeClr val="bg1"/>
                </a:solidFill>
              </a:rPr>
              <a:t>FragColor</a:t>
            </a:r>
            <a:r>
              <a:rPr lang="en-US" altLang="ko-KR" sz="1200" dirty="0">
                <a:solidFill>
                  <a:schemeClr val="bg1"/>
                </a:solidFill>
              </a:rPr>
              <a:t> = texture(</a:t>
            </a:r>
            <a:r>
              <a:rPr lang="en-US" altLang="ko-KR" sz="1200" dirty="0" err="1">
                <a:solidFill>
                  <a:schemeClr val="bg1"/>
                </a:solidFill>
              </a:rPr>
              <a:t>uTexture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vTexPos</a:t>
            </a:r>
            <a:r>
              <a:rPr lang="en-US" altLang="ko-KR" sz="1200" dirty="0">
                <a:solidFill>
                  <a:schemeClr val="bg1"/>
                </a:solidFill>
              </a:rPr>
              <a:t>);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}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56040" y="2742890"/>
            <a:ext cx="37444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buFontTx/>
              <a:buChar char="-"/>
            </a:pPr>
            <a:r>
              <a:rPr lang="ko-KR" altLang="en-US" dirty="0"/>
              <a:t>메인</a:t>
            </a:r>
            <a:r>
              <a:rPr lang="en-US" altLang="ko-KR" dirty="0"/>
              <a:t> </a:t>
            </a:r>
            <a:r>
              <a:rPr lang="ko-KR" altLang="en-US" dirty="0"/>
              <a:t>프레임버퍼는 </a:t>
            </a:r>
            <a:r>
              <a:rPr lang="en-US" altLang="ko-KR" dirty="0"/>
              <a:t>OpenGL </a:t>
            </a:r>
            <a:r>
              <a:rPr lang="ko-KR" altLang="en-US" dirty="0"/>
              <a:t>윈도우 생성시 자동으로 </a:t>
            </a:r>
            <a:r>
              <a:rPr lang="en-US" altLang="ko-KR" dirty="0"/>
              <a:t>0</a:t>
            </a:r>
            <a:r>
              <a:rPr lang="ko-KR" altLang="en-US" dirty="0"/>
              <a:t>번 </a:t>
            </a:r>
            <a:r>
              <a:rPr lang="en-US" altLang="ko-KR" dirty="0"/>
              <a:t>location </a:t>
            </a:r>
            <a:r>
              <a:rPr lang="ko-KR" altLang="en-US" dirty="0"/>
              <a:t>에 </a:t>
            </a:r>
            <a:r>
              <a:rPr lang="en-US" altLang="ko-KR" dirty="0"/>
              <a:t>bind </a:t>
            </a:r>
            <a:r>
              <a:rPr lang="ko-KR" altLang="en-US" dirty="0"/>
              <a:t>됨</a:t>
            </a:r>
            <a:endParaRPr lang="en-US" altLang="ko-KR" dirty="0"/>
          </a:p>
          <a:p>
            <a:pPr marL="285750" indent="-285750" latinLnBrk="0">
              <a:buFontTx/>
              <a:buChar char="-"/>
            </a:pPr>
            <a:endParaRPr lang="en-US" altLang="ko-KR" dirty="0"/>
          </a:p>
          <a:p>
            <a:pPr marL="285750" indent="-285750" latinLnBrk="0">
              <a:buFontTx/>
              <a:buChar char="-"/>
            </a:pPr>
            <a:r>
              <a:rPr lang="ko-KR" altLang="en-US" dirty="0"/>
              <a:t>따라서 지금까지 따로 설정을 하지 않아도 </a:t>
            </a:r>
            <a:r>
              <a:rPr lang="en-US" altLang="ko-KR" dirty="0"/>
              <a:t>Default </a:t>
            </a:r>
            <a:r>
              <a:rPr lang="ko-KR" altLang="en-US" dirty="0"/>
              <a:t>값인 </a:t>
            </a:r>
            <a:r>
              <a:rPr lang="en-US" altLang="ko-KR" dirty="0"/>
              <a:t>0</a:t>
            </a:r>
            <a:r>
              <a:rPr lang="ko-KR" altLang="en-US" dirty="0"/>
              <a:t>번 </a:t>
            </a:r>
            <a:r>
              <a:rPr lang="en-US" altLang="ko-KR" dirty="0"/>
              <a:t>location </a:t>
            </a:r>
            <a:r>
              <a:rPr lang="ko-KR" altLang="en-US" dirty="0"/>
              <a:t>으로 출력되고 있었음</a:t>
            </a:r>
            <a:endParaRPr lang="en-US" altLang="ko-KR" dirty="0"/>
          </a:p>
          <a:p>
            <a:pPr latinLnBrk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1358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Framebuffer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윈도우 시스템에서 제공하는 버퍼 이외의 메모리 영역에 그림을 그려야 한다면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메인 프레임 버퍼는 화면에 무조건 출력이 되기 때문에 그림자</a:t>
            </a:r>
            <a:r>
              <a:rPr lang="en-US" altLang="ko-KR" dirty="0"/>
              <a:t>, </a:t>
            </a:r>
            <a:r>
              <a:rPr lang="ko-KR" altLang="en-US" dirty="0"/>
              <a:t>깊이 정보 등 최종 결과물이 아닌 결과가 저장되기에는 적합 치 않음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따라서 윈도우가 관리하지 않는 프레임버퍼를 생성하여 그림을 그려놓을 수 있는 방법이 필요함 </a:t>
            </a:r>
            <a:r>
              <a:rPr lang="en-US" altLang="ko-KR" dirty="0"/>
              <a:t>(Off-screen buffer)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8897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Framebuffer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화면에 출력이 안 되는 버퍼를 위한 기능</a:t>
            </a:r>
            <a:endParaRPr lang="en-US" altLang="ko-KR" dirty="0"/>
          </a:p>
          <a:p>
            <a:pPr lvl="1"/>
            <a:r>
              <a:rPr lang="en-US" altLang="ko-KR" dirty="0" err="1"/>
              <a:t>Framebuffer</a:t>
            </a:r>
            <a:r>
              <a:rPr lang="en-US" altLang="ko-KR" dirty="0"/>
              <a:t> Object(</a:t>
            </a:r>
            <a:r>
              <a:rPr lang="ko-KR" altLang="en-US" dirty="0"/>
              <a:t>프레임버퍼 오브젝트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30000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프레임버퍼 오브젝트</a:t>
            </a:r>
            <a:endParaRPr lang="en-US" altLang="ko-KR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043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프레임버퍼 오브젝트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4647084" y="1963039"/>
            <a:ext cx="3096344" cy="1928537"/>
            <a:chOff x="1619672" y="4841776"/>
            <a:chExt cx="5832648" cy="2016224"/>
          </a:xfrm>
        </p:grpSpPr>
        <p:sp>
          <p:nvSpPr>
            <p:cNvPr id="5" name="직사각형 4"/>
            <p:cNvSpPr/>
            <p:nvPr/>
          </p:nvSpPr>
          <p:spPr>
            <a:xfrm>
              <a:off x="1619672" y="4841776"/>
              <a:ext cx="5832648" cy="20162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619672" y="4841776"/>
              <a:ext cx="5832648" cy="3154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FBO</a:t>
              </a:r>
              <a:endParaRPr lang="ko-KR" altLang="en-US" dirty="0"/>
            </a:p>
          </p:txBody>
        </p:sp>
      </p:grpSp>
      <p:sp>
        <p:nvSpPr>
          <p:cNvPr id="7" name="직사각형 6"/>
          <p:cNvSpPr/>
          <p:nvPr/>
        </p:nvSpPr>
        <p:spPr>
          <a:xfrm>
            <a:off x="4791100" y="2554782"/>
            <a:ext cx="1224136" cy="12241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Color</a:t>
            </a:r>
            <a:r>
              <a:rPr lang="ko-KR" altLang="en-US" dirty="0"/>
              <a:t>  </a:t>
            </a:r>
            <a:r>
              <a:rPr lang="en-US" altLang="ko-KR" dirty="0"/>
              <a:t>buffer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6312025" y="2554782"/>
            <a:ext cx="1318431" cy="12241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Depth buffer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954896" y="4581129"/>
            <a:ext cx="6480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FBO </a:t>
            </a:r>
            <a:r>
              <a:rPr lang="ko-KR" altLang="en-US" dirty="0"/>
              <a:t>자체는 껍데기에 불과하며 내용물을 따로 만들어서 </a:t>
            </a:r>
            <a:r>
              <a:rPr lang="en-US" altLang="ko-KR" dirty="0"/>
              <a:t>attach </a:t>
            </a:r>
            <a:r>
              <a:rPr lang="ko-KR" altLang="en-US" dirty="0"/>
              <a:t>해 줘야 함</a:t>
            </a:r>
            <a:endParaRPr lang="en-US" altLang="ko-KR" dirty="0"/>
          </a:p>
          <a:p>
            <a:pPr latinLnBrk="0"/>
            <a:r>
              <a:rPr lang="ko-KR" altLang="en-US" dirty="0"/>
              <a:t>즉</a:t>
            </a:r>
            <a:r>
              <a:rPr lang="en-US" altLang="ko-KR" dirty="0"/>
              <a:t>, FBO </a:t>
            </a:r>
            <a:r>
              <a:rPr lang="ko-KR" altLang="en-US" dirty="0"/>
              <a:t>생성 </a:t>
            </a:r>
            <a:r>
              <a:rPr lang="en-US" altLang="ko-KR" dirty="0">
                <a:sym typeface="Wingdings" pitchFamily="2" charset="2"/>
              </a:rPr>
              <a:t> Color buffer </a:t>
            </a:r>
            <a:r>
              <a:rPr lang="en-US" altLang="ko-KR" dirty="0"/>
              <a:t>attach </a:t>
            </a:r>
            <a:r>
              <a:rPr lang="en-US" altLang="ko-KR" dirty="0">
                <a:sym typeface="Wingdings" pitchFamily="2" charset="2"/>
              </a:rPr>
              <a:t> Depth buffer </a:t>
            </a:r>
            <a:r>
              <a:rPr lang="en-US" altLang="ko-KR" dirty="0"/>
              <a:t>attach </a:t>
            </a:r>
            <a:r>
              <a:rPr lang="ko-KR" altLang="en-US" dirty="0">
                <a:sym typeface="Wingdings" pitchFamily="2" charset="2"/>
              </a:rPr>
              <a:t>와 같이 따로 생성한 </a:t>
            </a:r>
            <a:r>
              <a:rPr lang="en-US" altLang="ko-KR" dirty="0">
                <a:sym typeface="Wingdings" pitchFamily="2" charset="2"/>
              </a:rPr>
              <a:t>Buffer </a:t>
            </a:r>
            <a:r>
              <a:rPr lang="ko-KR" altLang="en-US" dirty="0">
                <a:sym typeface="Wingdings" pitchFamily="2" charset="2"/>
              </a:rPr>
              <a:t>들을 </a:t>
            </a:r>
            <a:r>
              <a:rPr lang="en-US" altLang="ko-KR" dirty="0"/>
              <a:t>attach </a:t>
            </a:r>
            <a:r>
              <a:rPr lang="ko-KR" altLang="en-US" dirty="0">
                <a:sym typeface="Wingdings" pitchFamily="2" charset="2"/>
              </a:rPr>
              <a:t>해야 동작함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359696" y="2080211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/>
              <a:t>따로 생성</a:t>
            </a:r>
          </a:p>
        </p:txBody>
      </p:sp>
      <p:cxnSp>
        <p:nvCxnSpPr>
          <p:cNvPr id="13" name="직선 화살표 연결선 12"/>
          <p:cNvCxnSpPr>
            <a:stCxn id="11" idx="3"/>
            <a:endCxn id="7" idx="1"/>
          </p:cNvCxnSpPr>
          <p:nvPr/>
        </p:nvCxnSpPr>
        <p:spPr>
          <a:xfrm>
            <a:off x="4079776" y="2403376"/>
            <a:ext cx="711324" cy="76347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11" idx="3"/>
            <a:endCxn id="8" idx="1"/>
          </p:cNvCxnSpPr>
          <p:nvPr/>
        </p:nvCxnSpPr>
        <p:spPr>
          <a:xfrm>
            <a:off x="4079776" y="2403376"/>
            <a:ext cx="2232248" cy="76347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49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프레임버퍼 오브젝트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24001" y="1600201"/>
            <a:ext cx="91440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FBO</a:t>
            </a:r>
            <a:r>
              <a:rPr lang="ko-KR" altLang="en-US" dirty="0"/>
              <a:t>에 채울 내용물 만들기</a:t>
            </a:r>
            <a:r>
              <a:rPr lang="en-US" altLang="ko-KR" dirty="0"/>
              <a:t>: Color buffer</a:t>
            </a:r>
          </a:p>
          <a:p>
            <a:pPr lvl="1"/>
            <a:r>
              <a:rPr lang="en-US" altLang="ko-KR" dirty="0"/>
              <a:t>Texture </a:t>
            </a:r>
            <a:r>
              <a:rPr lang="ko-KR" altLang="en-US" dirty="0"/>
              <a:t>를 </a:t>
            </a:r>
            <a:r>
              <a:rPr lang="en-US" altLang="ko-KR" dirty="0"/>
              <a:t>Color buffer </a:t>
            </a:r>
            <a:r>
              <a:rPr lang="ko-KR" altLang="en-US" dirty="0"/>
              <a:t>로 </a:t>
            </a:r>
            <a:r>
              <a:rPr lang="en-US" altLang="ko-KR" dirty="0"/>
              <a:t>attach </a:t>
            </a:r>
            <a:r>
              <a:rPr lang="ko-KR" altLang="en-US" dirty="0"/>
              <a:t>할 수 있음</a:t>
            </a:r>
            <a:endParaRPr lang="en-US" altLang="ko-KR" dirty="0"/>
          </a:p>
          <a:p>
            <a:pPr lvl="1"/>
            <a:r>
              <a:rPr lang="en-US" altLang="ko-KR" dirty="0"/>
              <a:t>Texture </a:t>
            </a:r>
            <a:r>
              <a:rPr lang="ko-KR" altLang="en-US" dirty="0"/>
              <a:t>생성 및 메모리 할당 필요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sz="1500" dirty="0" err="1"/>
              <a:t>GLuint</a:t>
            </a:r>
            <a:r>
              <a:rPr lang="en-US" altLang="ko-KR" sz="1500" dirty="0"/>
              <a:t> </a:t>
            </a:r>
            <a:r>
              <a:rPr lang="en-US" altLang="ko-KR" sz="1500" dirty="0" err="1"/>
              <a:t>textureId</a:t>
            </a:r>
            <a:r>
              <a:rPr lang="en-US" altLang="ko-KR" sz="1500" dirty="0"/>
              <a:t>; </a:t>
            </a:r>
            <a:r>
              <a:rPr lang="en-US" altLang="ko-KR" sz="1500" dirty="0" err="1"/>
              <a:t>glGenTextures</a:t>
            </a:r>
            <a:r>
              <a:rPr lang="en-US" altLang="ko-KR" sz="1500" dirty="0"/>
              <a:t>(1, &amp;</a:t>
            </a:r>
            <a:r>
              <a:rPr lang="en-US" altLang="ko-KR" sz="1500" dirty="0" err="1"/>
              <a:t>gFBOTexture</a:t>
            </a:r>
            <a:r>
              <a:rPr lang="en-US" altLang="ko-KR" sz="1500" dirty="0"/>
              <a:t>); </a:t>
            </a:r>
          </a:p>
          <a:p>
            <a:pPr lvl="1"/>
            <a:r>
              <a:rPr lang="en-US" altLang="ko-KR" sz="1500" dirty="0" err="1"/>
              <a:t>glBindTexture</a:t>
            </a:r>
            <a:r>
              <a:rPr lang="en-US" altLang="ko-KR" sz="1500" dirty="0"/>
              <a:t>(GL_TEXTURE_2D, </a:t>
            </a:r>
            <a:r>
              <a:rPr lang="en-US" altLang="ko-KR" sz="1500" dirty="0" err="1"/>
              <a:t>gFBOTexture</a:t>
            </a:r>
            <a:r>
              <a:rPr lang="en-US" altLang="ko-KR" sz="1500" dirty="0"/>
              <a:t>); </a:t>
            </a:r>
          </a:p>
          <a:p>
            <a:pPr lvl="1"/>
            <a:r>
              <a:rPr lang="en-US" altLang="ko-KR" sz="1500" dirty="0" err="1"/>
              <a:t>glTexParameterf</a:t>
            </a:r>
            <a:r>
              <a:rPr lang="en-US" altLang="ko-KR" sz="1500" dirty="0"/>
              <a:t>(GL_TEXTURE_2D, GL_TEXTURE_MAG_FILTER, GL_LINEAR); </a:t>
            </a:r>
          </a:p>
          <a:p>
            <a:pPr lvl="1"/>
            <a:r>
              <a:rPr lang="en-US" altLang="ko-KR" sz="1500" dirty="0" err="1"/>
              <a:t>glTexParameterf</a:t>
            </a:r>
            <a:r>
              <a:rPr lang="en-US" altLang="ko-KR" sz="1500" dirty="0"/>
              <a:t>(GL_TEXTURE_2D, GL_TEXTURE_MIN_FILTER, GL</a:t>
            </a:r>
            <a:r>
              <a:rPr lang="en-US" altLang="ko-KR" sz="1500"/>
              <a:t>_LINEAR); </a:t>
            </a:r>
            <a:endParaRPr lang="en-US" altLang="ko-KR" sz="1500" dirty="0"/>
          </a:p>
          <a:p>
            <a:pPr lvl="1"/>
            <a:r>
              <a:rPr lang="en-US" altLang="ko-KR" sz="1500" dirty="0" err="1"/>
              <a:t>glTexParameterf</a:t>
            </a:r>
            <a:r>
              <a:rPr lang="en-US" altLang="ko-KR" sz="1500" dirty="0"/>
              <a:t>(GL_TEXTURE_2D, GL_TEXTURE_WRAP_S, GL_CLAMP_TO_EDGE); </a:t>
            </a:r>
          </a:p>
          <a:p>
            <a:pPr lvl="1"/>
            <a:r>
              <a:rPr lang="en-US" altLang="ko-KR" sz="1500" dirty="0" err="1"/>
              <a:t>glTexParameterf</a:t>
            </a:r>
            <a:r>
              <a:rPr lang="en-US" altLang="ko-KR" sz="1500" dirty="0"/>
              <a:t>(GL_TEXTURE_2D, GL_TEXTURE_WRAP_T, GL_CLAMP_TO_EDGE); </a:t>
            </a:r>
          </a:p>
          <a:p>
            <a:pPr lvl="1"/>
            <a:r>
              <a:rPr lang="en-US" altLang="ko-KR" sz="1500" dirty="0" err="1"/>
              <a:t>glTexParameteri</a:t>
            </a:r>
            <a:r>
              <a:rPr lang="en-US" altLang="ko-KR" sz="1500" dirty="0"/>
              <a:t>(GL_TEXTURE_2D, GL_GENERATE_MIPMAP, GL_TRUE); </a:t>
            </a:r>
          </a:p>
          <a:p>
            <a:pPr lvl="1"/>
            <a:r>
              <a:rPr lang="en-US" altLang="ko-KR" sz="1500" dirty="0"/>
              <a:t>glTexImage2D(GL_TEXTURE_2D, 0, GL_RGBA8, 512, 512, 0, GL_RGBA, GL_UNSIGNED_BYTE, 0); 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2742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프레임버퍼 오브젝트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24001" y="1600201"/>
            <a:ext cx="91440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FBO</a:t>
            </a:r>
            <a:r>
              <a:rPr lang="ko-KR" altLang="en-US" dirty="0"/>
              <a:t>에 채울 내용물 만들기</a:t>
            </a:r>
            <a:r>
              <a:rPr lang="en-US" altLang="ko-KR" dirty="0"/>
              <a:t>: Depth buffer</a:t>
            </a:r>
          </a:p>
          <a:p>
            <a:pPr lvl="1"/>
            <a:r>
              <a:rPr lang="en-US" altLang="ko-KR" dirty="0"/>
              <a:t>Depth buffer </a:t>
            </a:r>
            <a:r>
              <a:rPr lang="ko-KR" altLang="en-US" dirty="0"/>
              <a:t>의 경우 따로 </a:t>
            </a:r>
            <a:r>
              <a:rPr lang="en-US" altLang="ko-KR" dirty="0"/>
              <a:t>Attach</a:t>
            </a:r>
            <a:r>
              <a:rPr lang="ko-KR" altLang="en-US" dirty="0"/>
              <a:t>를 하지 않아도 기본 </a:t>
            </a:r>
            <a:r>
              <a:rPr lang="en-US" altLang="ko-KR" dirty="0"/>
              <a:t>depth buffer </a:t>
            </a:r>
            <a:r>
              <a:rPr lang="ko-KR" altLang="en-US" dirty="0"/>
              <a:t>를 기반으로 동작함</a:t>
            </a:r>
            <a:endParaRPr lang="en-US" altLang="ko-KR" dirty="0"/>
          </a:p>
          <a:p>
            <a:pPr lvl="1"/>
            <a:r>
              <a:rPr lang="ko-KR" altLang="en-US" dirty="0"/>
              <a:t>하지만 메인 프레임버퍼에 관련된 </a:t>
            </a:r>
            <a:r>
              <a:rPr lang="en-US" altLang="ko-KR" dirty="0"/>
              <a:t>Depth </a:t>
            </a:r>
            <a:r>
              <a:rPr lang="ko-KR" altLang="en-US" dirty="0"/>
              <a:t>정보를 덮어버리기 때문에 따로 생성하여 사용하는 것이 안전함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Render buffer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sz="1600" dirty="0" err="1"/>
              <a:t>GLuint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depthBuffer</a:t>
            </a:r>
            <a:r>
              <a:rPr lang="en-US" altLang="ko-KR" sz="1600" dirty="0"/>
              <a:t>; </a:t>
            </a:r>
          </a:p>
          <a:p>
            <a:pPr lvl="1"/>
            <a:r>
              <a:rPr lang="en-US" altLang="ko-KR" sz="1600" dirty="0" err="1"/>
              <a:t>glGenRenderbuffers</a:t>
            </a:r>
            <a:r>
              <a:rPr lang="en-US" altLang="ko-KR" sz="1600" dirty="0"/>
              <a:t>(1, &amp;</a:t>
            </a:r>
            <a:r>
              <a:rPr lang="en-US" altLang="ko-KR" sz="1600" dirty="0" err="1"/>
              <a:t>depthBuffer</a:t>
            </a:r>
            <a:r>
              <a:rPr lang="en-US" altLang="ko-KR" sz="1600" dirty="0"/>
              <a:t>); </a:t>
            </a:r>
          </a:p>
          <a:p>
            <a:pPr lvl="1"/>
            <a:r>
              <a:rPr lang="en-US" altLang="ko-KR" sz="1600" dirty="0" err="1"/>
              <a:t>glBindRenderbuffer</a:t>
            </a:r>
            <a:r>
              <a:rPr lang="en-US" altLang="ko-KR" sz="1600" dirty="0"/>
              <a:t>(GL_RENDERBUFFER, </a:t>
            </a:r>
            <a:r>
              <a:rPr lang="en-US" altLang="ko-KR" sz="1600" dirty="0" err="1"/>
              <a:t>depthBuffer</a:t>
            </a:r>
            <a:r>
              <a:rPr lang="en-US" altLang="ko-KR" sz="1600" dirty="0"/>
              <a:t>); </a:t>
            </a:r>
          </a:p>
          <a:p>
            <a:pPr lvl="1"/>
            <a:r>
              <a:rPr lang="en-US" altLang="ko-KR" sz="1600" dirty="0" err="1"/>
              <a:t>glRenderbufferStorage</a:t>
            </a:r>
            <a:r>
              <a:rPr lang="en-US" altLang="ko-KR" sz="1600" dirty="0"/>
              <a:t>(GL_RENDERBUFFER, GL_DEPTH_COMPONENT, 512, 512); </a:t>
            </a:r>
          </a:p>
          <a:p>
            <a:pPr lvl="1"/>
            <a:r>
              <a:rPr lang="en-US" altLang="ko-KR" sz="1600" dirty="0" err="1"/>
              <a:t>glBindRenderbuffer</a:t>
            </a:r>
            <a:r>
              <a:rPr lang="en-US" altLang="ko-KR" sz="1600" dirty="0"/>
              <a:t>(GL_RENDERBUFFER, 0);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911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프레임버퍼 오브젝트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200" y="1600201"/>
            <a:ext cx="8440665" cy="4525963"/>
          </a:xfrm>
        </p:spPr>
        <p:txBody>
          <a:bodyPr anchor="t"/>
          <a:lstStyle/>
          <a:p>
            <a:r>
              <a:rPr lang="en-US" altLang="ko-KR" dirty="0"/>
              <a:t>FBO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dirty="0" err="1"/>
              <a:t>glGenFramebuffers</a:t>
            </a:r>
            <a:r>
              <a:rPr lang="en-US" altLang="ko-KR" dirty="0"/>
              <a:t>(</a:t>
            </a:r>
            <a:r>
              <a:rPr lang="en-US" altLang="ko-KR" dirty="0" err="1"/>
              <a:t>GLsizei</a:t>
            </a:r>
            <a:r>
              <a:rPr lang="en-US" altLang="ko-KR" dirty="0"/>
              <a:t> n, </a:t>
            </a:r>
            <a:r>
              <a:rPr lang="en-US" altLang="ko-KR" dirty="0" err="1"/>
              <a:t>GLuint</a:t>
            </a:r>
            <a:r>
              <a:rPr lang="en-US" altLang="ko-KR" dirty="0"/>
              <a:t>* ids)</a:t>
            </a:r>
          </a:p>
          <a:p>
            <a:pPr lvl="1"/>
            <a:r>
              <a:rPr lang="ko-KR" altLang="en-US" dirty="0"/>
              <a:t>텍스처나 </a:t>
            </a:r>
            <a:r>
              <a:rPr lang="en-US" altLang="ko-KR" dirty="0"/>
              <a:t>VBO</a:t>
            </a:r>
            <a:r>
              <a:rPr lang="ko-KR" altLang="en-US" dirty="0"/>
              <a:t>를 생성하는 방식과 유사함</a:t>
            </a:r>
            <a:endParaRPr lang="en-US" altLang="ko-KR" dirty="0"/>
          </a:p>
          <a:p>
            <a:pPr lvl="1"/>
            <a:r>
              <a:rPr lang="en-US" altLang="ko-KR" dirty="0" err="1"/>
              <a:t>glGenFramebuffers</a:t>
            </a:r>
            <a:r>
              <a:rPr lang="en-US" altLang="ko-KR" dirty="0"/>
              <a:t>(1, &amp;FBO0);</a:t>
            </a:r>
          </a:p>
          <a:p>
            <a:endParaRPr lang="ko-KR" altLang="en-US" sz="180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m_A_FBO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 /attach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전에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bind!</a:t>
            </a: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2439810" y="5013176"/>
            <a:ext cx="5672414" cy="1656184"/>
            <a:chOff x="1619672" y="4841776"/>
            <a:chExt cx="5832648" cy="2016224"/>
          </a:xfrm>
        </p:grpSpPr>
        <p:sp>
          <p:nvSpPr>
            <p:cNvPr id="7" name="직사각형 6"/>
            <p:cNvSpPr/>
            <p:nvPr/>
          </p:nvSpPr>
          <p:spPr>
            <a:xfrm>
              <a:off x="1619672" y="4841776"/>
              <a:ext cx="5832648" cy="20162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619672" y="4841776"/>
              <a:ext cx="5832648" cy="3154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FBO</a:t>
              </a:r>
              <a:endParaRPr lang="ko-KR" altLang="en-US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569087" y="4802669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/>
              <a:t>공백</a:t>
            </a:r>
            <a:r>
              <a:rPr lang="en-US" altLang="ko-KR" dirty="0"/>
              <a:t> FBO </a:t>
            </a:r>
            <a:r>
              <a:rPr lang="ko-KR" altLang="en-US" dirty="0"/>
              <a:t>생성됨</a:t>
            </a:r>
          </a:p>
        </p:txBody>
      </p:sp>
    </p:spTree>
    <p:extLst>
      <p:ext uri="{BB962C8B-B14F-4D97-AF65-F5344CB8AC3E}">
        <p14:creationId xmlns:p14="http://schemas.microsoft.com/office/powerpoint/2010/main" val="3723851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프레임버퍼 오브젝트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altLang="ko-KR" dirty="0"/>
              <a:t>FBO</a:t>
            </a:r>
            <a:r>
              <a:rPr lang="ko-KR" altLang="en-US" dirty="0"/>
              <a:t>에 내용물 채우기</a:t>
            </a:r>
            <a:endParaRPr lang="en-US" altLang="ko-KR" dirty="0"/>
          </a:p>
          <a:p>
            <a:pPr lvl="1"/>
            <a:r>
              <a:rPr lang="en-US" altLang="ko-KR" dirty="0"/>
              <a:t>Texture</a:t>
            </a:r>
          </a:p>
          <a:p>
            <a:pPr lvl="2"/>
            <a:r>
              <a:rPr lang="en-US" altLang="ko-KR" sz="1400" dirty="0"/>
              <a:t>glFramebufferTexture2D(GL_FRAMEBUFFER, GL_COLOR_ATTACHMENT0, GL_TEXTURE_2D, </a:t>
            </a:r>
            <a:r>
              <a:rPr lang="en-US" altLang="ko-KR" sz="1400" dirty="0" err="1"/>
              <a:t>gFBOTexture</a:t>
            </a:r>
            <a:r>
              <a:rPr lang="en-US" altLang="ko-KR" sz="1400" dirty="0"/>
              <a:t>, 0); </a:t>
            </a:r>
          </a:p>
          <a:p>
            <a:pPr lvl="1"/>
            <a:endParaRPr lang="en-US" altLang="ko-KR" sz="1800" dirty="0"/>
          </a:p>
          <a:p>
            <a:pPr lvl="1"/>
            <a:r>
              <a:rPr lang="en-US" altLang="ko-KR" sz="2400" dirty="0"/>
              <a:t>Depth buffer</a:t>
            </a:r>
          </a:p>
          <a:p>
            <a:pPr lvl="2"/>
            <a:r>
              <a:rPr lang="en-US" altLang="ko-KR" sz="1600" dirty="0" err="1"/>
              <a:t>glFramebufferRenderbuffer</a:t>
            </a:r>
            <a:r>
              <a:rPr lang="en-US" altLang="ko-KR" sz="1600" dirty="0"/>
              <a:t>(GL_FRAMEBUFFER, GL_DEPTH_ATTACHMENT, GL_RENDERBUFFER, </a:t>
            </a:r>
            <a:r>
              <a:rPr lang="en-US" altLang="ko-KR" sz="1600" dirty="0" err="1"/>
              <a:t>depthBuffer</a:t>
            </a:r>
            <a:r>
              <a:rPr lang="en-US" altLang="ko-KR" sz="1600" dirty="0"/>
              <a:t>); 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3647728" y="4941168"/>
            <a:ext cx="4536504" cy="1725438"/>
            <a:chOff x="1619672" y="4841776"/>
            <a:chExt cx="4608512" cy="2016224"/>
          </a:xfrm>
        </p:grpSpPr>
        <p:sp>
          <p:nvSpPr>
            <p:cNvPr id="5" name="직사각형 4"/>
            <p:cNvSpPr/>
            <p:nvPr/>
          </p:nvSpPr>
          <p:spPr>
            <a:xfrm>
              <a:off x="1619672" y="4841776"/>
              <a:ext cx="4608512" cy="20162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619672" y="4841776"/>
              <a:ext cx="4608512" cy="3154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FBO</a:t>
              </a:r>
              <a:endParaRPr lang="ko-KR" altLang="en-US" dirty="0"/>
            </a:p>
          </p:txBody>
        </p:sp>
      </p:grpSp>
      <p:sp>
        <p:nvSpPr>
          <p:cNvPr id="7" name="직사각형 6"/>
          <p:cNvSpPr/>
          <p:nvPr/>
        </p:nvSpPr>
        <p:spPr>
          <a:xfrm>
            <a:off x="4038857" y="5226446"/>
            <a:ext cx="1728192" cy="12241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Color buffer</a:t>
            </a: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Texture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199097" y="5226446"/>
            <a:ext cx="1728192" cy="12241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Depth buffer</a:t>
            </a: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Render Buffer</a:t>
            </a:r>
          </a:p>
        </p:txBody>
      </p:sp>
    </p:spTree>
    <p:extLst>
      <p:ext uri="{BB962C8B-B14F-4D97-AF65-F5344CB8AC3E}">
        <p14:creationId xmlns:p14="http://schemas.microsoft.com/office/powerpoint/2010/main" val="3471266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프레임버퍼 오브젝트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883532" y="1772816"/>
            <a:ext cx="84969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에러 체크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GLenum</a:t>
            </a:r>
            <a:r>
              <a:rPr lang="en-US" altLang="ko-KR" dirty="0"/>
              <a:t> status = </a:t>
            </a:r>
            <a:r>
              <a:rPr lang="en-US" altLang="ko-KR" dirty="0" err="1"/>
              <a:t>glCheckFramebufferStatus</a:t>
            </a:r>
            <a:r>
              <a:rPr lang="en-US" altLang="ko-KR" dirty="0"/>
              <a:t>(GL_FRAMEBUFFER); </a:t>
            </a:r>
          </a:p>
          <a:p>
            <a:r>
              <a:rPr lang="en-US" altLang="ko-KR" dirty="0"/>
              <a:t>if(status != GL_FRAMEBUFFER_COMPLETE) </a:t>
            </a:r>
          </a:p>
          <a:p>
            <a:r>
              <a:rPr lang="en-US" altLang="ko-KR" dirty="0"/>
              <a:t>…</a:t>
            </a:r>
          </a:p>
          <a:p>
            <a:endParaRPr lang="en-US" altLang="ko-KR" dirty="0"/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 /attach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후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원상복귀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!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62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프레임버퍼 오브젝트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glViewport</a:t>
            </a:r>
            <a:r>
              <a:rPr lang="en-US" altLang="ko-KR" dirty="0"/>
              <a:t>(</a:t>
            </a:r>
            <a:r>
              <a:rPr lang="en-US" altLang="ko-KR" dirty="0" err="1"/>
              <a:t>GLint</a:t>
            </a:r>
            <a:r>
              <a:rPr lang="en-US" altLang="ko-KR" dirty="0"/>
              <a:t> x, </a:t>
            </a:r>
            <a:r>
              <a:rPr lang="en-US" altLang="ko-KR" dirty="0" err="1"/>
              <a:t>GLint</a:t>
            </a:r>
            <a:r>
              <a:rPr lang="en-US" altLang="ko-KR" dirty="0"/>
              <a:t> y, </a:t>
            </a:r>
            <a:r>
              <a:rPr lang="en-US" altLang="ko-KR" dirty="0" err="1"/>
              <a:t>GLsizei</a:t>
            </a:r>
            <a:r>
              <a:rPr lang="en-US" altLang="ko-KR" dirty="0"/>
              <a:t> width, </a:t>
            </a:r>
            <a:r>
              <a:rPr lang="en-US" altLang="ko-KR" dirty="0" err="1"/>
              <a:t>GLsizei</a:t>
            </a:r>
            <a:r>
              <a:rPr lang="en-US" altLang="ko-KR" dirty="0"/>
              <a:t> height)</a:t>
            </a:r>
          </a:p>
          <a:p>
            <a:pPr lvl="1"/>
            <a:r>
              <a:rPr lang="ko-KR" altLang="en-US" dirty="0"/>
              <a:t>프레임버퍼 안에 그림을 그릴 영역을 설정해 주는 함수</a:t>
            </a:r>
            <a:endParaRPr lang="en-US" altLang="ko-KR" dirty="0"/>
          </a:p>
          <a:p>
            <a:pPr lvl="1"/>
            <a:r>
              <a:rPr lang="ko-KR" altLang="en-US" dirty="0"/>
              <a:t>지금까지는 </a:t>
            </a:r>
            <a:r>
              <a:rPr lang="en-US" altLang="ko-KR" dirty="0"/>
              <a:t>default </a:t>
            </a:r>
            <a:r>
              <a:rPr lang="ko-KR" altLang="en-US" dirty="0"/>
              <a:t>로 </a:t>
            </a:r>
            <a:r>
              <a:rPr lang="ko-KR" altLang="en-US" dirty="0" err="1"/>
              <a:t>메인프레임</a:t>
            </a:r>
            <a:r>
              <a:rPr lang="ko-KR" altLang="en-US" dirty="0"/>
              <a:t> 버퍼 크기만큼으로 설정되어 있었음</a:t>
            </a:r>
          </a:p>
        </p:txBody>
      </p:sp>
    </p:spTree>
    <p:extLst>
      <p:ext uri="{BB962C8B-B14F-4D97-AF65-F5344CB8AC3E}">
        <p14:creationId xmlns:p14="http://schemas.microsoft.com/office/powerpoint/2010/main" val="1588482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AD45F6F-6454-86F3-D5C3-4F72595B8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FBO </a:t>
            </a:r>
            <a:r>
              <a:rPr lang="ko-KR" altLang="en-US" dirty="0"/>
              <a:t>사용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D75D5C-54BE-6125-C241-E5AD108EC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8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C793D5D-4ED6-3824-4E66-E5F2B20AD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FBO </a:t>
            </a:r>
            <a:r>
              <a:rPr lang="ko-KR" altLang="en-US" dirty="0"/>
              <a:t>사용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F0636F7-2D47-66A7-3212-CA8A0AEA7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ko-KR" altLang="en-US" dirty="0"/>
              <a:t>기존 메인 프레임 버퍼에 그리는 것이 아닌 따로 생성한 버퍼에 렌더링 하는 작업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그려질</a:t>
            </a:r>
            <a:r>
              <a:rPr lang="en-US" altLang="ko-KR" dirty="0"/>
              <a:t> </a:t>
            </a:r>
            <a:r>
              <a:rPr lang="ko-KR" altLang="en-US" dirty="0"/>
              <a:t>영역이 제대로 설정되어 있는지 확인 필요</a:t>
            </a:r>
            <a:endParaRPr lang="en-US" altLang="ko-KR" dirty="0"/>
          </a:p>
          <a:p>
            <a:pPr lvl="1"/>
            <a:r>
              <a:rPr lang="ko-KR" altLang="en-US" dirty="0"/>
              <a:t>초기화가 잘 되도록 구성</a:t>
            </a:r>
            <a:r>
              <a:rPr lang="en-US" altLang="ko-KR" dirty="0"/>
              <a:t>(ex: buffer clear)</a:t>
            </a:r>
          </a:p>
          <a:p>
            <a:pPr lvl="1"/>
            <a:endParaRPr lang="en-US" altLang="ko-KR" dirty="0"/>
          </a:p>
          <a:p>
            <a:r>
              <a:rPr lang="en-US" altLang="ko-KR" dirty="0" err="1"/>
              <a:t>glBindFramebuffer</a:t>
            </a:r>
            <a:r>
              <a:rPr lang="en-US" altLang="ko-KR" dirty="0"/>
              <a:t>(GL_FRAMEBUFFER, FBOID);</a:t>
            </a:r>
          </a:p>
          <a:p>
            <a:r>
              <a:rPr lang="en-US" altLang="ko-KR" dirty="0" err="1"/>
              <a:t>glViewport</a:t>
            </a:r>
            <a:r>
              <a:rPr lang="en-US" altLang="ko-KR" dirty="0"/>
              <a:t>(0, 0, width, height);</a:t>
            </a:r>
          </a:p>
          <a:p>
            <a:endParaRPr lang="en-US" altLang="ko-KR" dirty="0"/>
          </a:p>
          <a:p>
            <a:r>
              <a:rPr lang="ko-KR" altLang="en-US" dirty="0"/>
              <a:t>사용이</a:t>
            </a:r>
            <a:r>
              <a:rPr lang="en-US" altLang="ko-KR" dirty="0"/>
              <a:t> </a:t>
            </a:r>
            <a:r>
              <a:rPr lang="ko-KR" altLang="en-US" dirty="0"/>
              <a:t>끝난 후에는 반드시 </a:t>
            </a:r>
            <a:r>
              <a:rPr lang="en-US" altLang="ko-KR" dirty="0"/>
              <a:t>main framebuffer </a:t>
            </a:r>
            <a:r>
              <a:rPr lang="ko-KR" altLang="en-US" dirty="0"/>
              <a:t>로 초기화 해주는 것이 좋음</a:t>
            </a:r>
            <a:endParaRPr lang="en-US" altLang="ko-KR" dirty="0"/>
          </a:p>
          <a:p>
            <a:pPr lvl="1"/>
            <a:r>
              <a:rPr lang="en-US" altLang="ko-KR" dirty="0" err="1"/>
              <a:t>glBindFramebuffer</a:t>
            </a:r>
            <a:r>
              <a:rPr lang="en-US" altLang="ko-KR" dirty="0"/>
              <a:t>(GL_FRAMEBUFFER, 0); //</a:t>
            </a:r>
            <a:r>
              <a:rPr lang="ko-KR" altLang="en-US" dirty="0"/>
              <a:t>초기화</a:t>
            </a:r>
            <a:r>
              <a:rPr lang="en-US" altLang="ko-KR" dirty="0"/>
              <a:t> </a:t>
            </a:r>
            <a:r>
              <a:rPr lang="ko-KR" altLang="en-US" dirty="0"/>
              <a:t>코드</a:t>
            </a:r>
          </a:p>
        </p:txBody>
      </p:sp>
    </p:spTree>
    <p:extLst>
      <p:ext uri="{BB962C8B-B14F-4D97-AF65-F5344CB8AC3E}">
        <p14:creationId xmlns:p14="http://schemas.microsoft.com/office/powerpoint/2010/main" val="3833126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프레임버퍼 오브젝트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847528" y="2348880"/>
            <a:ext cx="5040560" cy="4032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783632" y="3356992"/>
            <a:ext cx="3168352" cy="208823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626793" y="1980203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dirty="0"/>
              <a:t>1024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862961" y="421644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dirty="0"/>
              <a:t>1024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49269" y="2708920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 err="1"/>
              <a:t>glViewport</a:t>
            </a:r>
            <a:r>
              <a:rPr lang="en-US" altLang="ko-KR" dirty="0"/>
              <a:t>(0, 0, 1024, 1024);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7389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프레임버퍼 오브젝트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847528" y="2348880"/>
            <a:ext cx="5040560" cy="4032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626793" y="1980203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dirty="0"/>
              <a:t>1024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600056" y="418043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dirty="0"/>
              <a:t>1024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49269" y="2708920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 err="1"/>
              <a:t>glViewport</a:t>
            </a:r>
            <a:r>
              <a:rPr lang="en-US" altLang="ko-KR" dirty="0"/>
              <a:t>(0, 0, 512, 512);</a:t>
            </a: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1860476" y="4365104"/>
            <a:ext cx="2520280" cy="2016224"/>
            <a:chOff x="323528" y="2348880"/>
            <a:chExt cx="5040560" cy="4032448"/>
          </a:xfrm>
        </p:grpSpPr>
        <p:sp>
          <p:nvSpPr>
            <p:cNvPr id="11" name="직사각형 10"/>
            <p:cNvSpPr/>
            <p:nvPr/>
          </p:nvSpPr>
          <p:spPr>
            <a:xfrm>
              <a:off x="323528" y="2348880"/>
              <a:ext cx="5040560" cy="403244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259632" y="3356992"/>
              <a:ext cx="3168352" cy="208823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8112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652BF63-4730-871D-E6A3-3E880ED0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Multiple</a:t>
            </a:r>
            <a:r>
              <a:rPr lang="ko-KR" altLang="en-US" dirty="0"/>
              <a:t> </a:t>
            </a:r>
            <a:r>
              <a:rPr lang="en-US" altLang="ko-KR" dirty="0"/>
              <a:t>Render</a:t>
            </a:r>
            <a:r>
              <a:rPr lang="ko-KR" altLang="en-US" dirty="0"/>
              <a:t> </a:t>
            </a:r>
            <a:r>
              <a:rPr lang="en-US" altLang="ko-KR" dirty="0"/>
              <a:t>Targets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8874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95A724D-EBCE-9E06-C53D-3DACAD762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Multiple</a:t>
            </a:r>
            <a:r>
              <a:rPr lang="ko-KR" altLang="en-US" dirty="0"/>
              <a:t> </a:t>
            </a:r>
            <a:r>
              <a:rPr lang="en-US" altLang="ko-KR" dirty="0"/>
              <a:t>Render</a:t>
            </a:r>
            <a:r>
              <a:rPr lang="ko-KR" altLang="en-US" dirty="0"/>
              <a:t> </a:t>
            </a:r>
            <a:r>
              <a:rPr lang="en-US" altLang="ko-KR" dirty="0"/>
              <a:t>Targets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BE8C4EC-ABB3-A802-EBD7-578F62D90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dirty="0"/>
              <a:t>Fragment Shader </a:t>
            </a:r>
            <a:r>
              <a:rPr lang="ko-KR" altLang="en-US" dirty="0"/>
              <a:t>에선 여러 개의 </a:t>
            </a:r>
            <a:r>
              <a:rPr lang="en-US" altLang="ko-KR" dirty="0"/>
              <a:t>attach</a:t>
            </a:r>
            <a:r>
              <a:rPr lang="ko-KR" altLang="en-US" dirty="0"/>
              <a:t>된 </a:t>
            </a:r>
            <a:r>
              <a:rPr lang="en-US" altLang="ko-KR" dirty="0"/>
              <a:t>textures</a:t>
            </a:r>
            <a:r>
              <a:rPr lang="ko-KR" altLang="en-US" dirty="0"/>
              <a:t>에 동시에 출력이 가능</a:t>
            </a:r>
            <a:endParaRPr lang="en-US" altLang="ko-KR" dirty="0"/>
          </a:p>
          <a:p>
            <a:pPr lvl="1"/>
            <a:r>
              <a:rPr lang="en-US" altLang="ko-KR" dirty="0"/>
              <a:t>Attachment0 : Color output</a:t>
            </a:r>
          </a:p>
          <a:p>
            <a:pPr lvl="1"/>
            <a:r>
              <a:rPr lang="en-US" altLang="ko-KR" dirty="0"/>
              <a:t>Attachment1 : Emissive output</a:t>
            </a:r>
          </a:p>
          <a:p>
            <a:pPr lvl="1"/>
            <a:r>
              <a:rPr lang="en-US" altLang="ko-KR" dirty="0"/>
              <a:t>Attachment2 : Depth output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왜 동시 출력을 하는가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렌더링 결과물 외에 중간과정에서 생기는 다른 결과물을 활용할 필요가 있을 때 </a:t>
            </a:r>
            <a:endParaRPr lang="en-US" altLang="ko-KR" dirty="0"/>
          </a:p>
          <a:p>
            <a:pPr lvl="2"/>
            <a:r>
              <a:rPr lang="ko-KR" altLang="en-US" dirty="0"/>
              <a:t>이미 만들어진 결과물의 경우 다시 렌더링하는 것 보단 이미 만들어진 결과를 저장하고 쓰는 것이 이득</a:t>
            </a:r>
          </a:p>
        </p:txBody>
      </p:sp>
    </p:spTree>
    <p:extLst>
      <p:ext uri="{BB962C8B-B14F-4D97-AF65-F5344CB8AC3E}">
        <p14:creationId xmlns:p14="http://schemas.microsoft.com/office/powerpoint/2010/main" val="263233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C1A17-6371-A7A0-3550-5E0C9037C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Multiple</a:t>
            </a:r>
            <a:r>
              <a:rPr lang="ko-KR" altLang="en-US" dirty="0"/>
              <a:t> </a:t>
            </a:r>
            <a:r>
              <a:rPr lang="en-US" altLang="ko-KR" dirty="0"/>
              <a:t>Render</a:t>
            </a:r>
            <a:r>
              <a:rPr lang="ko-KR" altLang="en-US" dirty="0"/>
              <a:t> </a:t>
            </a:r>
            <a:r>
              <a:rPr lang="en-US" altLang="ko-KR" dirty="0"/>
              <a:t>Targets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C37A9-F785-0BE7-0A10-1D46D3CB8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464" y="1804732"/>
            <a:ext cx="10131425" cy="3649133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GLenum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DrawBuffers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[1] </a:t>
            </a:r>
            <a:r>
              <a:rPr lang="en-US" altLang="ko-KR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{GL_COLOR_ATTACHMENT0}; </a:t>
            </a:r>
          </a:p>
          <a:p>
            <a:r>
              <a:rPr lang="en-US" altLang="ko-KR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glDrawBuffers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(1, </a:t>
            </a:r>
            <a:r>
              <a:rPr lang="en-US" altLang="ko-KR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DrawBuffers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endParaRPr lang="en-US" altLang="ko-KR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dirty="0" err="1">
                <a:solidFill>
                  <a:schemeClr val="tx1"/>
                </a:solidFill>
              </a:rPr>
              <a:t>DrawBuffer</a:t>
            </a:r>
            <a:r>
              <a:rPr lang="en-US" altLang="ko-KR" dirty="0">
                <a:solidFill>
                  <a:schemeClr val="tx1"/>
                </a:solidFill>
              </a:rPr>
              <a:t> : fragment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shader output </a:t>
            </a:r>
            <a:r>
              <a:rPr lang="ko-KR" altLang="en-US" dirty="0">
                <a:solidFill>
                  <a:schemeClr val="tx1"/>
                </a:solidFill>
              </a:rPr>
              <a:t>의 타겟을 결정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GL_COLOR_ATTACHMENT0~15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</a:rPr>
              <a:t>Default</a:t>
            </a:r>
            <a:r>
              <a:rPr lang="ko-KR" altLang="en-US" dirty="0">
                <a:solidFill>
                  <a:schemeClr val="tx1"/>
                </a:solidFill>
              </a:rPr>
              <a:t> 로</a:t>
            </a:r>
            <a:r>
              <a:rPr lang="en-US" altLang="ko-KR" dirty="0">
                <a:solidFill>
                  <a:schemeClr val="tx1"/>
                </a:solidFill>
              </a:rPr>
              <a:t> GL_COLOR_ATTACHMENT0 </a:t>
            </a:r>
            <a:r>
              <a:rPr lang="ko-KR" altLang="en-US" dirty="0">
                <a:solidFill>
                  <a:schemeClr val="tx1"/>
                </a:solidFill>
              </a:rPr>
              <a:t>으로 설정되어 있음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US" altLang="ko-KR" sz="1800" dirty="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layout(</a:t>
            </a:r>
            <a:r>
              <a:rPr lang="en-US" altLang="ko-KR" sz="1800" dirty="0">
                <a:solidFill>
                  <a:srgbClr val="FF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location=0</a:t>
            </a:r>
            <a:r>
              <a:rPr lang="en-US" altLang="ko-KR" sz="1800" dirty="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 out vec4 </a:t>
            </a:r>
            <a:r>
              <a:rPr lang="en-US" altLang="ko-KR" sz="1800" dirty="0" err="1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pPr lvl="1"/>
            <a:endParaRPr lang="en-US" altLang="ko-KR" dirty="0">
              <a:solidFill>
                <a:schemeClr val="tx1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Main framebuffer </a:t>
            </a:r>
            <a:r>
              <a:rPr lang="ko-KR" altLang="en-US" dirty="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는</a:t>
            </a:r>
            <a:r>
              <a:rPr lang="en-US" altLang="ko-KR" dirty="0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GL_COLOR_ATTACHMENT0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D490D4A2-4122-0DE8-3E4C-8FE592922FDB}"/>
              </a:ext>
            </a:extLst>
          </p:cNvPr>
          <p:cNvSpPr/>
          <p:nvPr/>
        </p:nvSpPr>
        <p:spPr>
          <a:xfrm>
            <a:off x="3649133" y="2023533"/>
            <a:ext cx="5131489" cy="3430332"/>
          </a:xfrm>
          <a:custGeom>
            <a:avLst/>
            <a:gdLst>
              <a:gd name="connsiteX0" fmla="*/ 4495800 w 5131489"/>
              <a:gd name="connsiteY0" fmla="*/ 0 h 3430332"/>
              <a:gd name="connsiteX1" fmla="*/ 4919134 w 5131489"/>
              <a:gd name="connsiteY1" fmla="*/ 2438400 h 3430332"/>
              <a:gd name="connsiteX2" fmla="*/ 1540934 w 5131489"/>
              <a:gd name="connsiteY2" fmla="*/ 3429000 h 3430332"/>
              <a:gd name="connsiteX3" fmla="*/ 0 w 5131489"/>
              <a:gd name="connsiteY3" fmla="*/ 2607734 h 3430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1489" h="3430332">
                <a:moveTo>
                  <a:pt x="4495800" y="0"/>
                </a:moveTo>
                <a:cubicBezTo>
                  <a:pt x="4953706" y="933450"/>
                  <a:pt x="5411612" y="1866900"/>
                  <a:pt x="4919134" y="2438400"/>
                </a:cubicBezTo>
                <a:cubicBezTo>
                  <a:pt x="4426656" y="3009900"/>
                  <a:pt x="2360790" y="3400778"/>
                  <a:pt x="1540934" y="3429000"/>
                </a:cubicBezTo>
                <a:cubicBezTo>
                  <a:pt x="721078" y="3457222"/>
                  <a:pt x="360539" y="3032478"/>
                  <a:pt x="0" y="260773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550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95A724D-EBCE-9E06-C53D-3DACAD762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Multiple</a:t>
            </a:r>
            <a:r>
              <a:rPr lang="ko-KR" altLang="en-US" dirty="0"/>
              <a:t> </a:t>
            </a:r>
            <a:r>
              <a:rPr lang="en-US" altLang="ko-KR" dirty="0"/>
              <a:t>Render</a:t>
            </a:r>
            <a:r>
              <a:rPr lang="ko-KR" altLang="en-US" dirty="0"/>
              <a:t> </a:t>
            </a:r>
            <a:r>
              <a:rPr lang="en-US" altLang="ko-KR" dirty="0"/>
              <a:t>Targets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BE8C4EC-ABB3-A802-EBD7-578F62D90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732449"/>
            <a:ext cx="11665296" cy="4058751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두개의 </a:t>
            </a:r>
            <a:r>
              <a:rPr lang="en-US" altLang="ko-KR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outputs</a:t>
            </a:r>
            <a:endParaRPr lang="en-US" altLang="ko-KR" b="0" i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endParaRPr lang="en-US" altLang="ko-KR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pPr lvl="1"/>
            <a:r>
              <a:rPr lang="en-US" altLang="ko-KR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GLenum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DrawBuffers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[2] </a:t>
            </a:r>
            <a:r>
              <a:rPr lang="en-US" altLang="ko-KR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{GL_COLOR_ATTACHMENT0, GL_COLOR_ATTACHMENT1}; </a:t>
            </a:r>
          </a:p>
          <a:p>
            <a:pPr lvl="1"/>
            <a:r>
              <a:rPr lang="en-US" altLang="ko-KR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glDrawBuffers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(2, </a:t>
            </a:r>
            <a:r>
              <a:rPr lang="en-US" altLang="ko-KR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DrawBuffers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); </a:t>
            </a:r>
          </a:p>
          <a:p>
            <a:pPr lvl="1"/>
            <a:endParaRPr lang="en-US" altLang="ko-KR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pPr lvl="1"/>
            <a:endParaRPr lang="en-US" altLang="ko-KR" b="0" i="0" dirty="0"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기존</a:t>
            </a:r>
            <a:r>
              <a:rPr lang="en-US" altLang="ko-KR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ko-KR" altLang="en-US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코드를</a:t>
            </a:r>
            <a:r>
              <a:rPr lang="en-US" altLang="ko-KR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ko-KR" altLang="en-US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활용하여</a:t>
            </a:r>
            <a:r>
              <a:rPr lang="en-US" altLang="ko-KR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output</a:t>
            </a:r>
            <a:r>
              <a:rPr lang="ko-KR" altLang="en-US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테스트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073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541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/>
              <a:t>지난 시간 코드에 이어서 작성</a:t>
            </a:r>
            <a:endParaRPr lang="en-US" altLang="ko-KR" dirty="0"/>
          </a:p>
          <a:p>
            <a:pPr lvl="1"/>
            <a:r>
              <a:rPr lang="ko-KR" altLang="en-US" dirty="0"/>
              <a:t>지금까지 진행했던 결과를 </a:t>
            </a:r>
            <a:r>
              <a:rPr lang="en-US" altLang="ko-KR" dirty="0"/>
              <a:t>FBO 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그린 후 </a:t>
            </a:r>
            <a:r>
              <a:rPr lang="en-US" altLang="ko-KR" dirty="0"/>
              <a:t>FBO </a:t>
            </a:r>
            <a:r>
              <a:rPr lang="ko-KR" altLang="en-US" dirty="0"/>
              <a:t>에</a:t>
            </a:r>
            <a:r>
              <a:rPr lang="en-US" altLang="ko-KR" dirty="0"/>
              <a:t> attach </a:t>
            </a:r>
            <a:r>
              <a:rPr lang="ko-KR" altLang="en-US" dirty="0"/>
              <a:t>되어 있는 </a:t>
            </a:r>
            <a:r>
              <a:rPr lang="en-US" altLang="ko-KR" dirty="0"/>
              <a:t>texture 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사용하여 메인 프레임에 네 개의 결과물이 각각 그려지도록 구현</a:t>
            </a:r>
            <a:endParaRPr lang="en-US" altLang="ko-K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054" y="4077072"/>
            <a:ext cx="2520280" cy="2595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88715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TM04033921[[fn=다마스크]]</Template>
  <TotalTime>872</TotalTime>
  <Words>1114</Words>
  <Application>Microsoft Office PowerPoint</Application>
  <PresentationFormat>와이드스크린</PresentationFormat>
  <Paragraphs>203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돋움체</vt:lpstr>
      <vt:lpstr>맑은 고딕</vt:lpstr>
      <vt:lpstr>Arial</vt:lpstr>
      <vt:lpstr>Bookman Old Style</vt:lpstr>
      <vt:lpstr>Courier New</vt:lpstr>
      <vt:lpstr>Rockwell</vt:lpstr>
      <vt:lpstr>Wingdings</vt:lpstr>
      <vt:lpstr>Damask</vt:lpstr>
      <vt:lpstr>셰이더 프로그래밍 Lecture5</vt:lpstr>
      <vt:lpstr>개요</vt:lpstr>
      <vt:lpstr>Framebuffer</vt:lpstr>
      <vt:lpstr>Framebuffer</vt:lpstr>
      <vt:lpstr>Framebuffer</vt:lpstr>
      <vt:lpstr>Framebuffer</vt:lpstr>
      <vt:lpstr>Framebuffer</vt:lpstr>
      <vt:lpstr>프레임버퍼 오브젝트</vt:lpstr>
      <vt:lpstr>Framebuffer</vt:lpstr>
      <vt:lpstr>Framebuffer</vt:lpstr>
      <vt:lpstr>Framebuffer</vt:lpstr>
      <vt:lpstr>프레임버퍼 오브젝트</vt:lpstr>
      <vt:lpstr>프레임버퍼 오브젝트</vt:lpstr>
      <vt:lpstr>프레임버퍼 오브젝트</vt:lpstr>
      <vt:lpstr>프레임버퍼 오브젝트</vt:lpstr>
      <vt:lpstr>프레임버퍼 오브젝트</vt:lpstr>
      <vt:lpstr>프레임버퍼 오브젝트</vt:lpstr>
      <vt:lpstr>프레임버퍼 오브젝트</vt:lpstr>
      <vt:lpstr>프레임버퍼 오브젝트</vt:lpstr>
      <vt:lpstr>FBO 사용</vt:lpstr>
      <vt:lpstr>FBO 사용</vt:lpstr>
      <vt:lpstr>프레임버퍼 오브젝트</vt:lpstr>
      <vt:lpstr>프레임버퍼 오브젝트</vt:lpstr>
      <vt:lpstr>Multiple Render Targets</vt:lpstr>
      <vt:lpstr>Multiple Render Targets</vt:lpstr>
      <vt:lpstr>Multiple Render Targets</vt:lpstr>
      <vt:lpstr>Multiple Render Targets</vt:lpstr>
      <vt:lpstr>실습</vt:lpstr>
      <vt:lpstr>실습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고급그래픽스효과</dc:title>
  <dc:creator>Microsoft Corporation</dc:creator>
  <cp:lastModifiedBy>이택희(A0344)</cp:lastModifiedBy>
  <cp:revision>67</cp:revision>
  <dcterms:created xsi:type="dcterms:W3CDTF">2006-10-05T04:04:58Z</dcterms:created>
  <dcterms:modified xsi:type="dcterms:W3CDTF">2025-11-24T12:14:00Z</dcterms:modified>
</cp:coreProperties>
</file>